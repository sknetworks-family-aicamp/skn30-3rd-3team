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E4D2B"/>
                </a:solidFill>
                <a:latin typeface="맑은 고딕"/>
              </a:rPr>
              <a:t>LLM-as-a-Judge 4대 지표 평가 (5점 만점, 12개 골든셋)</a:t>
            </a:r>
          </a:p>
        </c:rich>
      </c:tx>
      <c:layout/>
      <c:overlay val="0"/>
    </c:title>
    <c:autoTitleDeleted val="0"/>
    <c:plotArea>
      <c:barChart>
        <c:barDir val="col"/>
        <c:grouping val="clustered"/>
        <c:ser>
          <c:idx val="0"/>
          <c:order val="0"/>
          <c:tx>
            <c:strRef>
              <c:f>Sheet1!$B$1</c:f>
              <c:strCache>
                <c:ptCount val="1"/>
                <c:pt idx="0">
                  <c:v>개선 전 (2차)</c:v>
                </c:pt>
              </c:strCache>
            </c:strRef>
          </c:tx>
          <c:spPr>
            <a:solidFill>
              <a:srgbClr val="C9C9C9"/>
            </a:solidFill>
          </c:spPr>
          <c:cat>
            <c:strRef>
              <c:f>Sheet1!$A$2:$A$5</c:f>
              <c:strCache>
                <c:ptCount val="4"/>
                <c:pt idx="0">
                  <c:v>사실성</c:v>
                </c:pt>
                <c:pt idx="1">
                  <c:v>답변 관련성</c:v>
                </c:pt>
                <c:pt idx="2">
                  <c:v>검색 정확도</c:v>
                </c:pt>
                <c:pt idx="3">
                  <c:v>사진 반영</c:v>
                </c:pt>
              </c:strCache>
            </c:strRef>
          </c:cat>
          <c:val>
            <c:numRef>
              <c:f>Sheet1!$B$2:$B$5</c:f>
              <c:numCache>
                <c:formatCode>General</c:formatCode>
                <c:ptCount val="4"/>
                <c:pt idx="0">
                  <c:v>4.67</c:v>
                </c:pt>
                <c:pt idx="1">
                  <c:v>4.83</c:v>
                </c:pt>
                <c:pt idx="2">
                  <c:v>3.58</c:v>
                </c:pt>
                <c:pt idx="3">
                  <c:v>4.0</c:v>
                </c:pt>
              </c:numCache>
            </c:numRef>
          </c:val>
        </c:ser>
        <c:ser>
          <c:idx val="1"/>
          <c:order val="1"/>
          <c:tx>
            <c:strRef>
              <c:f>Sheet1!$C$1</c:f>
              <c:strCache>
                <c:ptCount val="1"/>
                <c:pt idx="0">
                  <c:v>개선 후</c:v>
                </c:pt>
              </c:strCache>
            </c:strRef>
          </c:tx>
          <c:spPr>
            <a:solidFill>
              <a:srgbClr val="3B7A57"/>
            </a:solidFill>
          </c:spPr>
          <c:cat>
            <c:strRef>
              <c:f>Sheet1!$A$2:$A$5</c:f>
              <c:strCache>
                <c:ptCount val="4"/>
                <c:pt idx="0">
                  <c:v>사실성</c:v>
                </c:pt>
                <c:pt idx="1">
                  <c:v>답변 관련성</c:v>
                </c:pt>
                <c:pt idx="2">
                  <c:v>검색 정확도</c:v>
                </c:pt>
                <c:pt idx="3">
                  <c:v>사진 반영</c:v>
                </c:pt>
              </c:strCache>
            </c:strRef>
          </c:cat>
          <c:val>
            <c:numRef>
              <c:f>Sheet1!$C$2:$C$5</c:f>
              <c:numCache>
                <c:formatCode>General</c:formatCode>
                <c:ptCount val="4"/>
                <c:pt idx="0">
                  <c:v>4.92</c:v>
                </c:pt>
                <c:pt idx="1">
                  <c:v>5.0</c:v>
                </c:pt>
                <c:pt idx="2">
                  <c:v>4.83</c:v>
                </c:pt>
                <c:pt idx="3">
                  <c:v>5.0</c:v>
                </c:pt>
              </c:numCache>
            </c:numRef>
          </c:val>
        </c:ser>
        <c:dLbls>
          <c:txPr>
            <a:bodyPr/>
            <a:lstStyle/>
            <a:p>
              <a:pPr>
                <a:defRPr sz="1000">
                  <a:latin typeface="맑은 고딕"/>
                </a:defRPr>
              </a:pPr>
            </a:p>
          </c:txPr>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txPr>
          <a:bodyPr/>
          <a:lstStyle/>
          <a:p>
            <a:pPr>
              <a:defRPr sz="1100">
                <a:latin typeface="맑은 고딕"/>
              </a:defRPr>
            </a:pPr>
          </a:p>
        </c:txPr>
        <c:crossAx val="-2113994440"/>
        <c:crosses val="autoZero"/>
        <c:auto val="1"/>
        <c:lblAlgn val="ctr"/>
        <c:lblOffset val="100"/>
        <c:noMultiLvlLbl val="0"/>
      </c:catAx>
      <c:valAx>
        <c:axId val="-2113994440"/>
        <c:scaling>
          <c:max val="5.0"/>
          <c:min val="0.0"/>
        </c:scaling>
        <c:delete val="0"/>
        <c:axPos val="l"/>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맑은 고딕"/>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Farm하니 팀입니다. 저희는 공식 식물·작물 관리 문서를 근거로 개인화 상담을 제공하는 RAG 기반 식물 주치의 AI 서비스를 개발했습니다. 발표는 프로젝트 동기, 데이터 파이프라인, RAG 기술 구현과 품질 개선, 아키텍처와 배포, 한계와 확장성, 서비스 시연 순으로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 팀을 소개합니다. 채동현 팀장이 프로젝트 총괄과 프론트엔드 UI, 데이터 수집 파이프라인 구축, 서비스 구현 및 배포를 담당했습니다. 강성준, 남태식 팀원이 LangGraph 기반 RAG 답변 파이프라인 설계와 구현, Supabase 서버 구축을 맡았고, 김도훈, 김범중 팀원이 데이터 수집 파이프라인 구현과 전처리, RAG 데이터 적재를 담당했습니다.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순서입니다. 프로젝트 동기와 기존 서비스의 한계, 데이터 수집·전처리, RAG 기술 구현과 품질 개선, 시스템 아키텍처와 배포, 한계와 확장성, 서비스 시연, Q&amp;A 순으로 진행하겠습니다.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식물을 키우는 사용자는 물주기나 병해충 정보를 자주 검색하지만 정보가 파편화되어 있고, 일반 LLM은 근거 없는 답변이나 식물 오매칭 문제가 있습니다. Farm하니는 공식 문서만 근거로 쓰는 RAG에 사용자의 식물 정보, 재배일지, 사진을 결합해 출처가 남는 개인화 상담을 제공하는 것을 목표로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농업 플랫폼에도 병해충 상담 기능이 있지만, 화면에서 보시듯 이웃 문답형 커뮤니티에 가깝습니다. 답변까지 시간이 오래 걸리고, 답변자가 비전문가라 정확성을 검증하기 어렵고, 내 식물의 이력과도 연결되지 않는 일회성 문답입니다. Farm하니는 공식 문서 기반 RAG가 내 식물의 기록·사진과 결합해 즉시, 출처와 함께 답변하는 방식으로 이 한계를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데이터는 농사로, NCPMS 병해충 정보, AI Hub, 국립수목원 도감, PSIS 농약 정보, 농업날씨365 등 공공·공식 소스에서 수집했고, 최종 1,682건의 청크를 Supabase에 통합 적재했습니다. 농사로 계열이 711건, NCPMS 병해충이 479건으로 가장 큰 비중입니다. category로 문서 성격을 구분하고 usage_scope로 사용 범위를 제어해, 농약 정보는 안전 참고 전용으로만 쓰이도록 관리합니다.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전처리 파이프라인은 수집, JSONL 정규화, 클렌징, 식물명 메타 태깅, 청킹, 임베딩, Supabase 적재의 7단계로 재현 가능하게 구축했습니다. 청킹은 출처별 가변 전략을 적용했습니다. 기본값은 2200자에 오버랩 250자이고, 증상·예방 정보가 밀도 높은 NCPMS 병해충 문서는 1400자, 물주기·광도 같은 항목형 정보가 많은 농사로 문서는 1200자로 더 잘게 나눴습니다. 임베딩은 1536차원이며 자동 검증 스크립트로 최종 PASS를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파이프라인은 LangGraph StateGraph로 구현한 10단계 에이전틱 워크플로우입니다. 1~4단계에서 사용자 맥락을 구조화하고, 5~6단계에서 쿼리 확장과 하이브리드 검색으로 후보를 폭넓게 수집합니다. 핵심은 빨간색 7단계 grade_or_rerank로, LLM이 문서를 하나씩 검증해 무관한 문서를 탈락시켜 환각을 차단합니다. 8~9단계에서 모드별 답변 생성과 안전 고지 조립, 10단계에서 상담 이력을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초기에는 몬스테라 질문에 윌마나 무화과 문서가 검색되는 오매칭과, 무관 문서 강제 주입으로 인한 환각 문제가 있었습니다. 임계값을 낮춰 후보를 넓게 수집하고 grade_or_rerank에서 엄격히 걸러내는 Two-Stage Retrieval과 조사 제거 휴리스틱, RRF 병합, 쿼리 확장을 적용해 검색 정확도가 3.58에서 4.83점으로 개선됐고 사진 반영은 만점을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설명드린 RAG 시스템이 실제로 배포된 구조입니다. Vercel에 React 프론트, Render에 FastAPI 백엔드를 배포하고, Supabase가 인증·관계형 데이터·pgvector 벡터 검색·이미지 스토리지를 통합 담당합니다. LLM은 OpenAI GPT-4o-mini를 채팅, Vision, 임베딩에 사용합니다. service role key는 백엔드에서만 사용해 보안을 유지하며, 전 구간 실배포가 완료된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정직하게 한계를 말씀드리면, 방대한 식물 종에 비해 데이터 수집이 아직 완전하지 않고, RAG 검색도 완벽하다고 말하기는 어렵습니다. 하지만 확장을 위한 준비는 되어 있습니다. 앞으로 소규모 반려식물에 한정하지 않고 규모 있는 농사나 전문적 관리가 필요한 도메인까지 확장할 계획입니다. 대표적으로 PSIS 농약등록정보 100건을 이미 수집해뒀는데, 현재는 안전 참고 전용이지만 usage_scope 설계 덕분에 데이터 재수집 없이 정책 변경만으로 전문 방제 가이드 기능으로 확장할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배포된 서비스의 메인 대시보드입니다. 내 식물 카드, 건강 개요, 빠른 AI 진단 버튼이 보입니다. 시연은 회원가입, 식물 등록, 대시보드 확인, AI 상담 순으로 진행합니다. 전문가 모드와 내 식물과 대화하는 1인칭 모드를 선택할 수 있고, 사진을 첨부하면 Vision 분석이 반영되며 답변에는 공식 문서 출처가 함께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향후에는 데이터 커버리지 확장, 물주기 리마인드, 이미지 진단 고도화, 그리고 PSIS 데이터를 활용한 전문 농가 대상 방제 가이드 확장을 계획하고 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92640" y="-1097280"/>
            <a:ext cx="3840480" cy="384048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881360" y="5120640"/>
            <a:ext cx="2377440" cy="2377440"/>
          </a:xfrm>
          <a:prstGeom prst="ellipse">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5394960"/>
            <a:ext cx="2377440" cy="237744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56832"/>
            <a:ext cx="12191695" cy="20116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10058400" cy="1371600"/>
          </a:xfrm>
          <a:prstGeom prst="rect">
            <a:avLst/>
          </a:prstGeom>
          <a:noFill/>
        </p:spPr>
        <p:txBody>
          <a:bodyPr wrap="square" anchor="t" lIns="101600" rIns="101600" tIns="50800" bIns="50800">
            <a:spAutoFit/>
          </a:bodyPr>
          <a:lstStyle/>
          <a:p>
            <a:pPr algn="l">
              <a:lnSpc>
                <a:spcPct val="112000"/>
              </a:lnSpc>
            </a:pPr>
            <a:r>
              <a:rPr sz="6600" b="1">
                <a:solidFill>
                  <a:srgbClr val="1E4D2B"/>
                </a:solidFill>
                <a:latin typeface="맑은 고딕"/>
              </a:rPr>
              <a:t>Farm하니?</a:t>
            </a:r>
          </a:p>
        </p:txBody>
      </p:sp>
      <p:sp>
        <p:nvSpPr>
          <p:cNvPr id="7" name="Rectangle 6"/>
          <p:cNvSpPr/>
          <p:nvPr/>
        </p:nvSpPr>
        <p:spPr>
          <a:xfrm>
            <a:off x="1051560" y="3063240"/>
            <a:ext cx="2194560" cy="82296"/>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91840"/>
            <a:ext cx="10058400" cy="640080"/>
          </a:xfrm>
          <a:prstGeom prst="rect">
            <a:avLst/>
          </a:prstGeom>
          <a:noFill/>
        </p:spPr>
        <p:txBody>
          <a:bodyPr wrap="square" anchor="t" lIns="101600" rIns="101600" tIns="50800" bIns="50800">
            <a:spAutoFit/>
          </a:bodyPr>
          <a:lstStyle/>
          <a:p>
            <a:pPr algn="l">
              <a:lnSpc>
                <a:spcPct val="112000"/>
              </a:lnSpc>
            </a:pPr>
            <a:r>
              <a:rPr sz="2800" b="1">
                <a:solidFill>
                  <a:srgbClr val="3B7A57"/>
                </a:solidFill>
                <a:latin typeface="맑은 고딕"/>
              </a:rPr>
              <a:t>RAG 기반 식물 주치의 AI</a:t>
            </a:r>
          </a:p>
        </p:txBody>
      </p:sp>
      <p:sp>
        <p:nvSpPr>
          <p:cNvPr id="9" name="TextBox 8"/>
          <p:cNvSpPr txBox="1"/>
          <p:nvPr/>
        </p:nvSpPr>
        <p:spPr>
          <a:xfrm>
            <a:off x="1024128" y="4023360"/>
            <a:ext cx="9601200" cy="548640"/>
          </a:xfrm>
          <a:prstGeom prst="rect">
            <a:avLst/>
          </a:prstGeom>
          <a:noFill/>
        </p:spPr>
        <p:txBody>
          <a:bodyPr wrap="square" anchor="t" lIns="101600" rIns="101600" tIns="50800" bIns="50800">
            <a:spAutoFit/>
          </a:bodyPr>
          <a:lstStyle/>
          <a:p>
            <a:pPr algn="l">
              <a:lnSpc>
                <a:spcPct val="112000"/>
              </a:lnSpc>
            </a:pPr>
            <a:r>
              <a:rPr sz="1500" b="0">
                <a:solidFill>
                  <a:srgbClr val="8A8A8A"/>
                </a:solidFill>
                <a:latin typeface="맑은 고딕"/>
              </a:rPr>
              <a:t>공식 식물·작물 관리 문서를 기반으로 개인화 상담을 제공하는 AI 식물 관리 서비스</a:t>
            </a:r>
          </a:p>
        </p:txBody>
      </p:sp>
      <p:sp>
        <p:nvSpPr>
          <p:cNvPr id="10" name="TextBox 9"/>
          <p:cNvSpPr txBox="1"/>
          <p:nvPr/>
        </p:nvSpPr>
        <p:spPr>
          <a:xfrm>
            <a:off x="1024128" y="5212080"/>
            <a:ext cx="9601200" cy="822960"/>
          </a:xfrm>
          <a:prstGeom prst="rect">
            <a:avLst/>
          </a:prstGeom>
          <a:noFill/>
        </p:spPr>
        <p:txBody>
          <a:bodyPr wrap="square" anchor="t" lIns="101600" rIns="101600" tIns="50800" bIns="50800">
            <a:spAutoFit/>
          </a:bodyPr>
          <a:lstStyle/>
          <a:p>
            <a:pPr algn="l">
              <a:lnSpc>
                <a:spcPct val="112000"/>
              </a:lnSpc>
            </a:pPr>
            <a:r>
              <a:rPr sz="1300" b="0">
                <a:solidFill>
                  <a:srgbClr val="8A8A8A"/>
                </a:solidFill>
                <a:latin typeface="맑은 고딕"/>
              </a:rPr>
              <a:t>SKN30 3차 단위 프로젝트  |  3팀</a:t>
            </a:r>
          </a:p>
          <a:p>
            <a:pPr algn="l">
              <a:lnSpc>
                <a:spcPct val="112000"/>
              </a:lnSpc>
            </a:pPr>
            <a:r>
              <a:rPr sz="1300" b="0">
                <a:solidFill>
                  <a:srgbClr val="8A8A8A"/>
                </a:solidFill>
                <a:latin typeface="맑은 고딕"/>
              </a:rPr>
              <a:t>총괄·프론트 설계  ·  데이터 수집/전처리  ·  백엔드/서버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팀원 소개</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SKN30 3팀 — 역할 분담</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91640"/>
            <a:ext cx="2103120" cy="3931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2103120" cy="91440"/>
          </a:xfrm>
          <a:prstGeom prst="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1920240" cy="457200"/>
          </a:xfrm>
          <a:prstGeom prst="rect">
            <a:avLst/>
          </a:prstGeom>
          <a:noFill/>
        </p:spPr>
        <p:txBody>
          <a:bodyPr wrap="square" anchor="t" lIns="101600" rIns="101600" tIns="50800" bIns="50800">
            <a:spAutoFit/>
          </a:bodyPr>
          <a:lstStyle/>
          <a:p>
            <a:pPr algn="ctr">
              <a:lnSpc>
                <a:spcPct val="112000"/>
              </a:lnSpc>
            </a:pPr>
            <a:r>
              <a:rPr sz="1800" b="1">
                <a:solidFill>
                  <a:srgbClr val="1E4D2B"/>
                </a:solidFill>
                <a:latin typeface="맑은 고딕"/>
              </a:rPr>
              <a:t>채동현</a:t>
            </a:r>
          </a:p>
        </p:txBody>
      </p:sp>
      <p:sp>
        <p:nvSpPr>
          <p:cNvPr id="9" name="Rounded Rectangle 8"/>
          <p:cNvSpPr/>
          <p:nvPr/>
        </p:nvSpPr>
        <p:spPr>
          <a:xfrm>
            <a:off x="868680" y="2560320"/>
            <a:ext cx="1463040" cy="384048"/>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150" b="1">
                <a:solidFill>
                  <a:srgbClr val="3B7A57"/>
                </a:solidFill>
                <a:latin typeface="맑은 고딕"/>
              </a:rPr>
              <a:t>총괄 · 프론트</a:t>
            </a:r>
          </a:p>
        </p:txBody>
      </p:sp>
      <p:sp>
        <p:nvSpPr>
          <p:cNvPr id="10" name="TextBox 9"/>
          <p:cNvSpPr txBox="1"/>
          <p:nvPr/>
        </p:nvSpPr>
        <p:spPr>
          <a:xfrm>
            <a:off x="694944" y="3154680"/>
            <a:ext cx="1810512" cy="2286000"/>
          </a:xfrm>
          <a:prstGeom prst="rect">
            <a:avLst/>
          </a:prstGeom>
          <a:noFill/>
        </p:spPr>
        <p:txBody>
          <a:bodyPr wrap="square">
            <a:spAutoFit/>
          </a:bodyPr>
          <a:lstStyle/>
          <a:p>
            <a:pPr>
              <a:lnSpc>
                <a:spcPct val="115000"/>
              </a:lnSpc>
              <a:spcAft>
                <a:spcPts val="600"/>
              </a:spcAft>
            </a:pPr>
            <a:r>
              <a:rPr sz="1100">
                <a:solidFill>
                  <a:srgbClr val="3A3A3A"/>
                </a:solidFill>
                <a:latin typeface="맑은 고딕"/>
              </a:rPr>
              <a:t>·  프로젝트 총괄 및 일정 관리</a:t>
            </a:r>
          </a:p>
          <a:p>
            <a:pPr>
              <a:lnSpc>
                <a:spcPct val="115000"/>
              </a:lnSpc>
              <a:spcAft>
                <a:spcPts val="600"/>
              </a:spcAft>
            </a:pPr>
            <a:r>
              <a:rPr sz="1100">
                <a:solidFill>
                  <a:srgbClr val="3A3A3A"/>
                </a:solidFill>
                <a:latin typeface="맑은 고딕"/>
              </a:rPr>
              <a:t>·  프론트엔드 UI 설계·구현</a:t>
            </a:r>
          </a:p>
          <a:p>
            <a:pPr>
              <a:lnSpc>
                <a:spcPct val="115000"/>
              </a:lnSpc>
              <a:spcAft>
                <a:spcPts val="600"/>
              </a:spcAft>
            </a:pPr>
            <a:r>
              <a:rPr sz="1100">
                <a:solidFill>
                  <a:srgbClr val="3A3A3A"/>
                </a:solidFill>
                <a:latin typeface="맑은 고딕"/>
              </a:rPr>
              <a:t>·  데이터 수집 파이프라인 구축</a:t>
            </a:r>
          </a:p>
          <a:p>
            <a:pPr>
              <a:lnSpc>
                <a:spcPct val="115000"/>
              </a:lnSpc>
              <a:spcAft>
                <a:spcPts val="600"/>
              </a:spcAft>
            </a:pPr>
            <a:r>
              <a:rPr sz="1100">
                <a:solidFill>
                  <a:srgbClr val="3A3A3A"/>
                </a:solidFill>
                <a:latin typeface="맑은 고딕"/>
              </a:rPr>
              <a:t>·  서비스 통합 구현 및 배포</a:t>
            </a:r>
          </a:p>
        </p:txBody>
      </p:sp>
      <p:sp>
        <p:nvSpPr>
          <p:cNvPr id="11" name="Rounded Rectangle 10"/>
          <p:cNvSpPr/>
          <p:nvPr/>
        </p:nvSpPr>
        <p:spPr>
          <a:xfrm>
            <a:off x="2798064" y="1691640"/>
            <a:ext cx="2103120" cy="3931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98064" y="1691640"/>
            <a:ext cx="2103120" cy="91440"/>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984248"/>
            <a:ext cx="1920240" cy="457200"/>
          </a:xfrm>
          <a:prstGeom prst="rect">
            <a:avLst/>
          </a:prstGeom>
          <a:noFill/>
        </p:spPr>
        <p:txBody>
          <a:bodyPr wrap="square" anchor="t" lIns="101600" rIns="101600" tIns="50800" bIns="50800">
            <a:spAutoFit/>
          </a:bodyPr>
          <a:lstStyle/>
          <a:p>
            <a:pPr algn="ctr">
              <a:lnSpc>
                <a:spcPct val="112000"/>
              </a:lnSpc>
            </a:pPr>
            <a:r>
              <a:rPr sz="1800" b="1">
                <a:solidFill>
                  <a:srgbClr val="1E4D2B"/>
                </a:solidFill>
                <a:latin typeface="맑은 고딕"/>
              </a:rPr>
              <a:t>강성준</a:t>
            </a:r>
          </a:p>
        </p:txBody>
      </p:sp>
      <p:sp>
        <p:nvSpPr>
          <p:cNvPr id="14" name="Rounded Rectangle 13"/>
          <p:cNvSpPr/>
          <p:nvPr/>
        </p:nvSpPr>
        <p:spPr>
          <a:xfrm>
            <a:off x="3118104" y="2560320"/>
            <a:ext cx="1463040" cy="384048"/>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150" b="1">
                <a:solidFill>
                  <a:srgbClr val="3B7A57"/>
                </a:solidFill>
                <a:latin typeface="맑은 고딕"/>
              </a:rPr>
              <a:t>백엔드 · RAG</a:t>
            </a:r>
          </a:p>
        </p:txBody>
      </p:sp>
      <p:sp>
        <p:nvSpPr>
          <p:cNvPr id="15" name="TextBox 14"/>
          <p:cNvSpPr txBox="1"/>
          <p:nvPr/>
        </p:nvSpPr>
        <p:spPr>
          <a:xfrm>
            <a:off x="2944368" y="3154680"/>
            <a:ext cx="1810512" cy="2286000"/>
          </a:xfrm>
          <a:prstGeom prst="rect">
            <a:avLst/>
          </a:prstGeom>
          <a:noFill/>
        </p:spPr>
        <p:txBody>
          <a:bodyPr wrap="square">
            <a:spAutoFit/>
          </a:bodyPr>
          <a:lstStyle/>
          <a:p>
            <a:pPr>
              <a:lnSpc>
                <a:spcPct val="115000"/>
              </a:lnSpc>
              <a:spcAft>
                <a:spcPts val="600"/>
              </a:spcAft>
            </a:pPr>
            <a:r>
              <a:rPr sz="1100">
                <a:solidFill>
                  <a:srgbClr val="3A3A3A"/>
                </a:solidFill>
                <a:latin typeface="맑은 고딕"/>
              </a:rPr>
              <a:t>·  LangGraph 기반 RAG 답변 파이프라인 설계·구현</a:t>
            </a:r>
          </a:p>
          <a:p>
            <a:pPr>
              <a:lnSpc>
                <a:spcPct val="115000"/>
              </a:lnSpc>
              <a:spcAft>
                <a:spcPts val="600"/>
              </a:spcAft>
            </a:pPr>
            <a:r>
              <a:rPr sz="1100">
                <a:solidFill>
                  <a:srgbClr val="3A3A3A"/>
                </a:solidFill>
                <a:latin typeface="맑은 고딕"/>
              </a:rPr>
              <a:t>·  Supabase 서버 구축</a:t>
            </a:r>
          </a:p>
        </p:txBody>
      </p:sp>
      <p:sp>
        <p:nvSpPr>
          <p:cNvPr id="16" name="Rounded Rectangle 15"/>
          <p:cNvSpPr/>
          <p:nvPr/>
        </p:nvSpPr>
        <p:spPr>
          <a:xfrm>
            <a:off x="5047488" y="1691640"/>
            <a:ext cx="2103120" cy="3931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47488" y="1691640"/>
            <a:ext cx="2103120" cy="91440"/>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1984248"/>
            <a:ext cx="1920240" cy="457200"/>
          </a:xfrm>
          <a:prstGeom prst="rect">
            <a:avLst/>
          </a:prstGeom>
          <a:noFill/>
        </p:spPr>
        <p:txBody>
          <a:bodyPr wrap="square" anchor="t" lIns="101600" rIns="101600" tIns="50800" bIns="50800">
            <a:spAutoFit/>
          </a:bodyPr>
          <a:lstStyle/>
          <a:p>
            <a:pPr algn="ctr">
              <a:lnSpc>
                <a:spcPct val="112000"/>
              </a:lnSpc>
            </a:pPr>
            <a:r>
              <a:rPr sz="1800" b="1">
                <a:solidFill>
                  <a:srgbClr val="1E4D2B"/>
                </a:solidFill>
                <a:latin typeface="맑은 고딕"/>
              </a:rPr>
              <a:t>남태식</a:t>
            </a:r>
          </a:p>
        </p:txBody>
      </p:sp>
      <p:sp>
        <p:nvSpPr>
          <p:cNvPr id="19" name="Rounded Rectangle 18"/>
          <p:cNvSpPr/>
          <p:nvPr/>
        </p:nvSpPr>
        <p:spPr>
          <a:xfrm>
            <a:off x="5367528" y="2560320"/>
            <a:ext cx="1463040" cy="384048"/>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150" b="1">
                <a:solidFill>
                  <a:srgbClr val="3B7A57"/>
                </a:solidFill>
                <a:latin typeface="맑은 고딕"/>
              </a:rPr>
              <a:t>백엔드 · RAG</a:t>
            </a:r>
          </a:p>
        </p:txBody>
      </p:sp>
      <p:sp>
        <p:nvSpPr>
          <p:cNvPr id="20" name="TextBox 19"/>
          <p:cNvSpPr txBox="1"/>
          <p:nvPr/>
        </p:nvSpPr>
        <p:spPr>
          <a:xfrm>
            <a:off x="5193792" y="3154680"/>
            <a:ext cx="1810512" cy="2286000"/>
          </a:xfrm>
          <a:prstGeom prst="rect">
            <a:avLst/>
          </a:prstGeom>
          <a:noFill/>
        </p:spPr>
        <p:txBody>
          <a:bodyPr wrap="square">
            <a:spAutoFit/>
          </a:bodyPr>
          <a:lstStyle/>
          <a:p>
            <a:pPr>
              <a:lnSpc>
                <a:spcPct val="115000"/>
              </a:lnSpc>
              <a:spcAft>
                <a:spcPts val="600"/>
              </a:spcAft>
            </a:pPr>
            <a:r>
              <a:rPr sz="1100">
                <a:solidFill>
                  <a:srgbClr val="3A3A3A"/>
                </a:solidFill>
                <a:latin typeface="맑은 고딕"/>
              </a:rPr>
              <a:t>·  LangGraph 기반 RAG 답변 파이프라인 설계·구현</a:t>
            </a:r>
          </a:p>
          <a:p>
            <a:pPr>
              <a:lnSpc>
                <a:spcPct val="115000"/>
              </a:lnSpc>
              <a:spcAft>
                <a:spcPts val="600"/>
              </a:spcAft>
            </a:pPr>
            <a:r>
              <a:rPr sz="1100">
                <a:solidFill>
                  <a:srgbClr val="3A3A3A"/>
                </a:solidFill>
                <a:latin typeface="맑은 고딕"/>
              </a:rPr>
              <a:t>·  Supabase 서버 구축</a:t>
            </a:r>
          </a:p>
        </p:txBody>
      </p:sp>
      <p:sp>
        <p:nvSpPr>
          <p:cNvPr id="21" name="Rounded Rectangle 20"/>
          <p:cNvSpPr/>
          <p:nvPr/>
        </p:nvSpPr>
        <p:spPr>
          <a:xfrm>
            <a:off x="7296912" y="1691640"/>
            <a:ext cx="2103120" cy="3931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96912" y="1691640"/>
            <a:ext cx="2103120" cy="914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8352" y="1984248"/>
            <a:ext cx="1920240" cy="457200"/>
          </a:xfrm>
          <a:prstGeom prst="rect">
            <a:avLst/>
          </a:prstGeom>
          <a:noFill/>
        </p:spPr>
        <p:txBody>
          <a:bodyPr wrap="square" anchor="t" lIns="101600" rIns="101600" tIns="50800" bIns="50800">
            <a:spAutoFit/>
          </a:bodyPr>
          <a:lstStyle/>
          <a:p>
            <a:pPr algn="ctr">
              <a:lnSpc>
                <a:spcPct val="112000"/>
              </a:lnSpc>
            </a:pPr>
            <a:r>
              <a:rPr sz="1800" b="1">
                <a:solidFill>
                  <a:srgbClr val="1E4D2B"/>
                </a:solidFill>
                <a:latin typeface="맑은 고딕"/>
              </a:rPr>
              <a:t>김도훈</a:t>
            </a:r>
          </a:p>
        </p:txBody>
      </p:sp>
      <p:sp>
        <p:nvSpPr>
          <p:cNvPr id="24" name="Rounded Rectangle 23"/>
          <p:cNvSpPr/>
          <p:nvPr/>
        </p:nvSpPr>
        <p:spPr>
          <a:xfrm>
            <a:off x="7616952" y="2560320"/>
            <a:ext cx="1463040" cy="384048"/>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150" b="1">
                <a:solidFill>
                  <a:srgbClr val="3B7A57"/>
                </a:solidFill>
                <a:latin typeface="맑은 고딕"/>
              </a:rPr>
              <a:t>데이터</a:t>
            </a:r>
          </a:p>
        </p:txBody>
      </p:sp>
      <p:sp>
        <p:nvSpPr>
          <p:cNvPr id="25" name="TextBox 24"/>
          <p:cNvSpPr txBox="1"/>
          <p:nvPr/>
        </p:nvSpPr>
        <p:spPr>
          <a:xfrm>
            <a:off x="7443216" y="3154680"/>
            <a:ext cx="1810512" cy="2286000"/>
          </a:xfrm>
          <a:prstGeom prst="rect">
            <a:avLst/>
          </a:prstGeom>
          <a:noFill/>
        </p:spPr>
        <p:txBody>
          <a:bodyPr wrap="square">
            <a:spAutoFit/>
          </a:bodyPr>
          <a:lstStyle/>
          <a:p>
            <a:pPr>
              <a:lnSpc>
                <a:spcPct val="115000"/>
              </a:lnSpc>
              <a:spcAft>
                <a:spcPts val="600"/>
              </a:spcAft>
            </a:pPr>
            <a:r>
              <a:rPr sz="1100">
                <a:solidFill>
                  <a:srgbClr val="3A3A3A"/>
                </a:solidFill>
                <a:latin typeface="맑은 고딕"/>
              </a:rPr>
              <a:t>·  데이터 수집 파이프라인 구현 및 전처리</a:t>
            </a:r>
          </a:p>
          <a:p>
            <a:pPr>
              <a:lnSpc>
                <a:spcPct val="115000"/>
              </a:lnSpc>
              <a:spcAft>
                <a:spcPts val="600"/>
              </a:spcAft>
            </a:pPr>
            <a:r>
              <a:rPr sz="1100">
                <a:solidFill>
                  <a:srgbClr val="3A3A3A"/>
                </a:solidFill>
                <a:latin typeface="맑은 고딕"/>
              </a:rPr>
              <a:t>·  RAG 데이터 적재</a:t>
            </a:r>
          </a:p>
        </p:txBody>
      </p:sp>
      <p:sp>
        <p:nvSpPr>
          <p:cNvPr id="26" name="Rounded Rectangle 25"/>
          <p:cNvSpPr/>
          <p:nvPr/>
        </p:nvSpPr>
        <p:spPr>
          <a:xfrm>
            <a:off x="9546336" y="1691640"/>
            <a:ext cx="2103120" cy="3931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46336" y="1691640"/>
            <a:ext cx="2103120" cy="914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37776" y="1984248"/>
            <a:ext cx="1920240" cy="457200"/>
          </a:xfrm>
          <a:prstGeom prst="rect">
            <a:avLst/>
          </a:prstGeom>
          <a:noFill/>
        </p:spPr>
        <p:txBody>
          <a:bodyPr wrap="square" anchor="t" lIns="101600" rIns="101600" tIns="50800" bIns="50800">
            <a:spAutoFit/>
          </a:bodyPr>
          <a:lstStyle/>
          <a:p>
            <a:pPr algn="ctr">
              <a:lnSpc>
                <a:spcPct val="112000"/>
              </a:lnSpc>
            </a:pPr>
            <a:r>
              <a:rPr sz="1800" b="1">
                <a:solidFill>
                  <a:srgbClr val="1E4D2B"/>
                </a:solidFill>
                <a:latin typeface="맑은 고딕"/>
              </a:rPr>
              <a:t>김범중</a:t>
            </a:r>
          </a:p>
        </p:txBody>
      </p:sp>
      <p:sp>
        <p:nvSpPr>
          <p:cNvPr id="29" name="Rounded Rectangle 28"/>
          <p:cNvSpPr/>
          <p:nvPr/>
        </p:nvSpPr>
        <p:spPr>
          <a:xfrm>
            <a:off x="9866376" y="2560320"/>
            <a:ext cx="1463040" cy="384048"/>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150" b="1">
                <a:solidFill>
                  <a:srgbClr val="3B7A57"/>
                </a:solidFill>
                <a:latin typeface="맑은 고딕"/>
              </a:rPr>
              <a:t>데이터</a:t>
            </a:r>
          </a:p>
        </p:txBody>
      </p:sp>
      <p:sp>
        <p:nvSpPr>
          <p:cNvPr id="30" name="TextBox 29"/>
          <p:cNvSpPr txBox="1"/>
          <p:nvPr/>
        </p:nvSpPr>
        <p:spPr>
          <a:xfrm>
            <a:off x="9692640" y="3154680"/>
            <a:ext cx="1810512" cy="2286000"/>
          </a:xfrm>
          <a:prstGeom prst="rect">
            <a:avLst/>
          </a:prstGeom>
          <a:noFill/>
        </p:spPr>
        <p:txBody>
          <a:bodyPr wrap="square">
            <a:spAutoFit/>
          </a:bodyPr>
          <a:lstStyle/>
          <a:p>
            <a:pPr>
              <a:lnSpc>
                <a:spcPct val="115000"/>
              </a:lnSpc>
              <a:spcAft>
                <a:spcPts val="600"/>
              </a:spcAft>
            </a:pPr>
            <a:r>
              <a:rPr sz="1100">
                <a:solidFill>
                  <a:srgbClr val="3A3A3A"/>
                </a:solidFill>
                <a:latin typeface="맑은 고딕"/>
              </a:rPr>
              <a:t>·  데이터 수집 파이프라인 구현 및 전처리</a:t>
            </a:r>
          </a:p>
          <a:p>
            <a:pPr>
              <a:lnSpc>
                <a:spcPct val="115000"/>
              </a:lnSpc>
              <a:spcAft>
                <a:spcPts val="600"/>
              </a:spcAft>
            </a:pPr>
            <a:r>
              <a:rPr sz="1100">
                <a:solidFill>
                  <a:srgbClr val="3A3A3A"/>
                </a:solidFill>
                <a:latin typeface="맑은 고딕"/>
              </a:rPr>
              <a:t>·  RAG 데이터 적재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목차</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Contents</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46304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8191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01</a:t>
            </a:r>
          </a:p>
        </p:txBody>
      </p:sp>
      <p:sp>
        <p:nvSpPr>
          <p:cNvPr id="8" name="Rounded Rectangle 7"/>
          <p:cNvSpPr/>
          <p:nvPr/>
        </p:nvSpPr>
        <p:spPr>
          <a:xfrm>
            <a:off x="1965960" y="146304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65960" y="146304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1554480"/>
            <a:ext cx="566928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프로젝트 주제 및 동기</a:t>
            </a:r>
          </a:p>
        </p:txBody>
      </p:sp>
      <p:sp>
        <p:nvSpPr>
          <p:cNvPr id="11" name="TextBox 10"/>
          <p:cNvSpPr txBox="1"/>
          <p:nvPr/>
        </p:nvSpPr>
        <p:spPr>
          <a:xfrm>
            <a:off x="7955279" y="1645920"/>
            <a:ext cx="3291840" cy="457200"/>
          </a:xfrm>
          <a:prstGeom prst="rect">
            <a:avLst/>
          </a:prstGeom>
          <a:noFill/>
        </p:spPr>
        <p:txBody>
          <a:bodyPr wrap="square" anchor="t" lIns="101600" rIns="101600" tIns="50800" bIns="50800">
            <a:spAutoFit/>
          </a:bodyPr>
          <a:lstStyle/>
          <a:p>
            <a:pPr algn="l">
              <a:lnSpc>
                <a:spcPct val="112000"/>
              </a:lnSpc>
            </a:pPr>
            <a:r>
              <a:rPr sz="1200" b="0">
                <a:solidFill>
                  <a:srgbClr val="8A8A8A"/>
                </a:solidFill>
                <a:latin typeface="맑은 고딕"/>
              </a:rPr>
              <a:t>문제 정의 · 기존 서비스의 한계</a:t>
            </a:r>
          </a:p>
        </p:txBody>
      </p:sp>
      <p:sp>
        <p:nvSpPr>
          <p:cNvPr id="12" name="Rounded Rectangle 11"/>
          <p:cNvSpPr/>
          <p:nvPr/>
        </p:nvSpPr>
        <p:spPr>
          <a:xfrm>
            <a:off x="914400" y="246888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8775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02</a:t>
            </a:r>
          </a:p>
        </p:txBody>
      </p:sp>
      <p:sp>
        <p:nvSpPr>
          <p:cNvPr id="14" name="Rounded Rectangle 13"/>
          <p:cNvSpPr/>
          <p:nvPr/>
        </p:nvSpPr>
        <p:spPr>
          <a:xfrm>
            <a:off x="1965960" y="246888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965960" y="246888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40280" y="2560320"/>
            <a:ext cx="566928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데이터 수집 및 전처리</a:t>
            </a:r>
          </a:p>
        </p:txBody>
      </p:sp>
      <p:sp>
        <p:nvSpPr>
          <p:cNvPr id="17" name="TextBox 16"/>
          <p:cNvSpPr txBox="1"/>
          <p:nvPr/>
        </p:nvSpPr>
        <p:spPr>
          <a:xfrm>
            <a:off x="7955279" y="2651760"/>
            <a:ext cx="3291840" cy="457200"/>
          </a:xfrm>
          <a:prstGeom prst="rect">
            <a:avLst/>
          </a:prstGeom>
          <a:noFill/>
        </p:spPr>
        <p:txBody>
          <a:bodyPr wrap="square" anchor="t" lIns="101600" rIns="101600" tIns="50800" bIns="50800">
            <a:spAutoFit/>
          </a:bodyPr>
          <a:lstStyle/>
          <a:p>
            <a:pPr algn="l">
              <a:lnSpc>
                <a:spcPct val="112000"/>
              </a:lnSpc>
            </a:pPr>
            <a:r>
              <a:rPr sz="1200" b="0">
                <a:solidFill>
                  <a:srgbClr val="8A8A8A"/>
                </a:solidFill>
                <a:latin typeface="맑은 고딕"/>
              </a:rPr>
              <a:t>공식 데이터 1,682건 파이프라인</a:t>
            </a:r>
          </a:p>
        </p:txBody>
      </p:sp>
      <p:sp>
        <p:nvSpPr>
          <p:cNvPr id="18" name="Rounded Rectangle 17"/>
          <p:cNvSpPr/>
          <p:nvPr/>
        </p:nvSpPr>
        <p:spPr>
          <a:xfrm>
            <a:off x="914400" y="347472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59359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03</a:t>
            </a:r>
          </a:p>
        </p:txBody>
      </p:sp>
      <p:sp>
        <p:nvSpPr>
          <p:cNvPr id="20" name="Rounded Rectangle 19"/>
          <p:cNvSpPr/>
          <p:nvPr/>
        </p:nvSpPr>
        <p:spPr>
          <a:xfrm>
            <a:off x="1965960" y="347472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65960" y="347472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40280" y="3566160"/>
            <a:ext cx="566928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RAG 기술 구현 및 품질 개선</a:t>
            </a:r>
          </a:p>
        </p:txBody>
      </p:sp>
      <p:sp>
        <p:nvSpPr>
          <p:cNvPr id="23" name="TextBox 22"/>
          <p:cNvSpPr txBox="1"/>
          <p:nvPr/>
        </p:nvSpPr>
        <p:spPr>
          <a:xfrm>
            <a:off x="7955279" y="3657600"/>
            <a:ext cx="3291840" cy="457200"/>
          </a:xfrm>
          <a:prstGeom prst="rect">
            <a:avLst/>
          </a:prstGeom>
          <a:noFill/>
        </p:spPr>
        <p:txBody>
          <a:bodyPr wrap="square" anchor="t" lIns="101600" rIns="101600" tIns="50800" bIns="50800">
            <a:spAutoFit/>
          </a:bodyPr>
          <a:lstStyle/>
          <a:p>
            <a:pPr algn="l">
              <a:lnSpc>
                <a:spcPct val="112000"/>
              </a:lnSpc>
            </a:pPr>
            <a:r>
              <a:rPr sz="1200" b="0">
                <a:solidFill>
                  <a:srgbClr val="8A8A8A"/>
                </a:solidFill>
                <a:latin typeface="맑은 고딕"/>
              </a:rPr>
              <a:t>LangGraph 10단계 · LLM-as-a-Judge 평가</a:t>
            </a:r>
          </a:p>
        </p:txBody>
      </p:sp>
      <p:sp>
        <p:nvSpPr>
          <p:cNvPr id="24" name="Rounded Rectangle 23"/>
          <p:cNvSpPr/>
          <p:nvPr/>
        </p:nvSpPr>
        <p:spPr>
          <a:xfrm>
            <a:off x="914400" y="448056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59943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04</a:t>
            </a:r>
          </a:p>
        </p:txBody>
      </p:sp>
      <p:sp>
        <p:nvSpPr>
          <p:cNvPr id="26" name="Rounded Rectangle 25"/>
          <p:cNvSpPr/>
          <p:nvPr/>
        </p:nvSpPr>
        <p:spPr>
          <a:xfrm>
            <a:off x="1965960" y="448056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65960" y="448056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40280" y="4572000"/>
            <a:ext cx="566928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시스템 아키텍처 및 배포</a:t>
            </a:r>
          </a:p>
        </p:txBody>
      </p:sp>
      <p:sp>
        <p:nvSpPr>
          <p:cNvPr id="29" name="TextBox 28"/>
          <p:cNvSpPr txBox="1"/>
          <p:nvPr/>
        </p:nvSpPr>
        <p:spPr>
          <a:xfrm>
            <a:off x="7955279" y="4663440"/>
            <a:ext cx="3291840" cy="457200"/>
          </a:xfrm>
          <a:prstGeom prst="rect">
            <a:avLst/>
          </a:prstGeom>
          <a:noFill/>
        </p:spPr>
        <p:txBody>
          <a:bodyPr wrap="square" anchor="t" lIns="101600" rIns="101600" tIns="50800" bIns="50800">
            <a:spAutoFit/>
          </a:bodyPr>
          <a:lstStyle/>
          <a:p>
            <a:pPr algn="l">
              <a:lnSpc>
                <a:spcPct val="112000"/>
              </a:lnSpc>
            </a:pPr>
            <a:r>
              <a:rPr sz="1200" b="0">
                <a:solidFill>
                  <a:srgbClr val="8A8A8A"/>
                </a:solidFill>
                <a:latin typeface="맑은 고딕"/>
              </a:rPr>
              <a:t>Vercel · Render · Supabase 실배포</a:t>
            </a:r>
          </a:p>
        </p:txBody>
      </p:sp>
      <p:sp>
        <p:nvSpPr>
          <p:cNvPr id="30" name="Rounded Rectangle 29"/>
          <p:cNvSpPr/>
          <p:nvPr/>
        </p:nvSpPr>
        <p:spPr>
          <a:xfrm>
            <a:off x="914400" y="5486400"/>
            <a:ext cx="868680" cy="777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05272"/>
            <a:ext cx="868680" cy="548640"/>
          </a:xfrm>
          <a:prstGeom prst="rect">
            <a:avLst/>
          </a:prstGeom>
          <a:noFill/>
        </p:spPr>
        <p:txBody>
          <a:bodyPr wrap="square" anchor="t" lIns="101600" rIns="101600" tIns="50800" bIns="50800">
            <a:spAutoFit/>
          </a:bodyPr>
          <a:lstStyle/>
          <a:p>
            <a:pPr algn="ctr">
              <a:lnSpc>
                <a:spcPct val="112000"/>
              </a:lnSpc>
            </a:pPr>
            <a:r>
              <a:rPr sz="2200" b="1">
                <a:solidFill>
                  <a:srgbClr val="7CB342"/>
                </a:solidFill>
                <a:latin typeface="맑은 고딕"/>
              </a:rPr>
              <a:t>05</a:t>
            </a:r>
          </a:p>
        </p:txBody>
      </p:sp>
      <p:sp>
        <p:nvSpPr>
          <p:cNvPr id="32" name="Rounded Rectangle 31"/>
          <p:cNvSpPr/>
          <p:nvPr/>
        </p:nvSpPr>
        <p:spPr>
          <a:xfrm>
            <a:off x="1965960" y="5486400"/>
            <a:ext cx="9326880" cy="7772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65960" y="5486400"/>
            <a:ext cx="64008" cy="77724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40280" y="5577840"/>
            <a:ext cx="5669280" cy="457200"/>
          </a:xfrm>
          <a:prstGeom prst="rect">
            <a:avLst/>
          </a:prstGeom>
          <a:noFill/>
        </p:spPr>
        <p:txBody>
          <a:bodyPr wrap="square" anchor="t" lIns="101600" rIns="101600" tIns="50800" bIns="50800">
            <a:spAutoFit/>
          </a:bodyPr>
          <a:lstStyle/>
          <a:p>
            <a:pPr algn="l">
              <a:lnSpc>
                <a:spcPct val="112000"/>
              </a:lnSpc>
            </a:pPr>
            <a:r>
              <a:rPr sz="1800" b="1">
                <a:solidFill>
                  <a:srgbClr val="1E4D2B"/>
                </a:solidFill>
                <a:latin typeface="맑은 고딕"/>
              </a:rPr>
              <a:t>한계와 확장성 · 서비스 시연 · Q&amp;A</a:t>
            </a:r>
          </a:p>
        </p:txBody>
      </p:sp>
      <p:sp>
        <p:nvSpPr>
          <p:cNvPr id="35" name="TextBox 34"/>
          <p:cNvSpPr txBox="1"/>
          <p:nvPr/>
        </p:nvSpPr>
        <p:spPr>
          <a:xfrm>
            <a:off x="7955279" y="5669280"/>
            <a:ext cx="3291840" cy="457200"/>
          </a:xfrm>
          <a:prstGeom prst="rect">
            <a:avLst/>
          </a:prstGeom>
          <a:noFill/>
        </p:spPr>
        <p:txBody>
          <a:bodyPr wrap="square" anchor="t" lIns="101600" rIns="101600" tIns="50800" bIns="50800">
            <a:spAutoFit/>
          </a:bodyPr>
          <a:lstStyle/>
          <a:p>
            <a:pPr algn="l">
              <a:lnSpc>
                <a:spcPct val="112000"/>
              </a:lnSpc>
            </a:pPr>
            <a:r>
              <a:rPr sz="1200" b="0">
                <a:solidFill>
                  <a:srgbClr val="8A8A8A"/>
                </a:solidFill>
                <a:latin typeface="맑은 고딕"/>
              </a:rPr>
              <a:t>향후 도메인 확장 계획과 데모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프로젝트 주제 및 목표</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문제 정의 → 해결 방향 → 서비스 목표</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C0453E"/>
                </a:solidFill>
                <a:latin typeface="맑은 고딕"/>
              </a:rPr>
              <a:t>문제</a:t>
            </a:r>
          </a:p>
          <a:p>
            <a:pPr algn="l">
              <a:lnSpc>
                <a:spcPct val="118000"/>
              </a:lnSpc>
            </a:pPr>
            <a:r>
              <a:rPr sz="1300" b="0">
                <a:solidFill>
                  <a:srgbClr val="3A3A3A"/>
                </a:solidFill>
                <a:latin typeface="맑은 고딕"/>
              </a:rPr>
              <a:t>·  물주기·광량·병해충 정보가 블로그, 카페 등에 파편화</a:t>
            </a:r>
          </a:p>
          <a:p>
            <a:pPr algn="l">
              <a:lnSpc>
                <a:spcPct val="118000"/>
              </a:lnSpc>
            </a:pPr>
            <a:r>
              <a:rPr sz="1300" b="0">
                <a:solidFill>
                  <a:srgbClr val="3A3A3A"/>
                </a:solidFill>
                <a:latin typeface="맑은 고딕"/>
              </a:rPr>
              <a:t>·  일반 LLM은 근거 없는 답변, 식물 오매칭 발생</a:t>
            </a:r>
          </a:p>
          <a:p>
            <a:pPr algn="l">
              <a:lnSpc>
                <a:spcPct val="118000"/>
              </a:lnSpc>
            </a:pPr>
            <a:r>
              <a:rPr sz="1300" b="0">
                <a:solidFill>
                  <a:srgbClr val="3A3A3A"/>
                </a:solidFill>
                <a:latin typeface="맑은 고딕"/>
              </a:rPr>
              <a:t>·  내 식물의 상태·기록을 반영한 상담 부재</a:t>
            </a:r>
          </a:p>
        </p:txBody>
      </p:sp>
      <p:sp>
        <p:nvSpPr>
          <p:cNvPr id="7" name="Rectangle 6"/>
          <p:cNvSpPr/>
          <p:nvPr/>
        </p:nvSpPr>
        <p:spPr>
          <a:xfrm>
            <a:off x="548640" y="1481328"/>
            <a:ext cx="356616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4114800" y="2743200"/>
            <a:ext cx="219456"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52544"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3B7A57"/>
                </a:solidFill>
                <a:latin typeface="맑은 고딕"/>
              </a:rPr>
              <a:t>해결 방향</a:t>
            </a:r>
          </a:p>
          <a:p>
            <a:pPr algn="l">
              <a:lnSpc>
                <a:spcPct val="118000"/>
              </a:lnSpc>
            </a:pPr>
            <a:r>
              <a:rPr sz="1300" b="0">
                <a:solidFill>
                  <a:srgbClr val="3A3A3A"/>
                </a:solidFill>
                <a:latin typeface="맑은 고딕"/>
              </a:rPr>
              <a:t>·  공식 원예·농업 문서만 근거로 사용하는 RAG</a:t>
            </a:r>
          </a:p>
          <a:p>
            <a:pPr algn="l">
              <a:lnSpc>
                <a:spcPct val="118000"/>
              </a:lnSpc>
            </a:pPr>
            <a:r>
              <a:rPr sz="1300" b="0">
                <a:solidFill>
                  <a:srgbClr val="3A3A3A"/>
                </a:solidFill>
                <a:latin typeface="맑은 고딕"/>
              </a:rPr>
              <a:t>·  식물 프로필 + 재배일지 + 사진을 결합한 개인화 상담</a:t>
            </a:r>
          </a:p>
          <a:p>
            <a:pPr algn="l">
              <a:lnSpc>
                <a:spcPct val="118000"/>
              </a:lnSpc>
            </a:pPr>
            <a:r>
              <a:rPr sz="1300" b="0">
                <a:solidFill>
                  <a:srgbClr val="3A3A3A"/>
                </a:solidFill>
                <a:latin typeface="맑은 고딕"/>
              </a:rPr>
              <a:t>·  출처(citations)가 명시되는 신뢰 가능한 답변</a:t>
            </a:r>
          </a:p>
        </p:txBody>
      </p:sp>
      <p:sp>
        <p:nvSpPr>
          <p:cNvPr id="10" name="Rectangle 9"/>
          <p:cNvSpPr/>
          <p:nvPr/>
        </p:nvSpPr>
        <p:spPr>
          <a:xfrm>
            <a:off x="4352544" y="1481328"/>
            <a:ext cx="356616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918704" y="2743200"/>
            <a:ext cx="219456" cy="274320"/>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56448" y="1481328"/>
            <a:ext cx="3566160" cy="27889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1E4D2B"/>
                </a:solidFill>
                <a:latin typeface="맑은 고딕"/>
              </a:rPr>
              <a:t>서비스 목표</a:t>
            </a:r>
          </a:p>
          <a:p>
            <a:pPr algn="l">
              <a:lnSpc>
                <a:spcPct val="118000"/>
              </a:lnSpc>
            </a:pPr>
            <a:r>
              <a:rPr sz="1300" b="0">
                <a:solidFill>
                  <a:srgbClr val="3A3A3A"/>
                </a:solidFill>
                <a:latin typeface="맑은 고딕"/>
              </a:rPr>
              <a:t>·  식물 등록 및 관리 기록(일지·사진) 관리</a:t>
            </a:r>
          </a:p>
          <a:p>
            <a:pPr algn="l">
              <a:lnSpc>
                <a:spcPct val="118000"/>
              </a:lnSpc>
            </a:pPr>
            <a:r>
              <a:rPr sz="1300" b="0">
                <a:solidFill>
                  <a:srgbClr val="3A3A3A"/>
                </a:solidFill>
                <a:latin typeface="맑은 고딕"/>
              </a:rPr>
              <a:t>·  사진 기반 이상 신호 진단 보조</a:t>
            </a:r>
          </a:p>
          <a:p>
            <a:pPr algn="l">
              <a:lnSpc>
                <a:spcPct val="118000"/>
              </a:lnSpc>
            </a:pPr>
            <a:r>
              <a:rPr sz="1300" b="0">
                <a:solidFill>
                  <a:srgbClr val="3A3A3A"/>
                </a:solidFill>
                <a:latin typeface="맑은 고딕"/>
              </a:rPr>
              <a:t>·  공식 문서 RAG 상담 + 출처 표시</a:t>
            </a:r>
          </a:p>
          <a:p>
            <a:pPr algn="l">
              <a:lnSpc>
                <a:spcPct val="118000"/>
              </a:lnSpc>
            </a:pPr>
            <a:r>
              <a:rPr sz="1300" b="0">
                <a:solidFill>
                  <a:srgbClr val="3A3A3A"/>
                </a:solidFill>
                <a:latin typeface="맑은 고딕"/>
              </a:rPr>
              <a:t>·  사용자별 상담 내역 보존</a:t>
            </a:r>
          </a:p>
        </p:txBody>
      </p:sp>
      <p:sp>
        <p:nvSpPr>
          <p:cNvPr id="13" name="Rectangle 12"/>
          <p:cNvSpPr/>
          <p:nvPr/>
        </p:nvSpPr>
        <p:spPr>
          <a:xfrm>
            <a:off x="8156448" y="1481328"/>
            <a:ext cx="3566160" cy="73152"/>
          </a:xfrm>
          <a:prstGeom prst="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4709160"/>
            <a:ext cx="11091672" cy="132588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700" b="1">
                <a:solidFill>
                  <a:srgbClr val="FFFFFF"/>
                </a:solidFill>
                <a:latin typeface="맑은 고딕"/>
              </a:rPr>
              <a:t>"단순 LLM 답변이 아니라, 공식 문서 검색(RAG) · 사용자 식물 기록 · 사진 분석을 결합해</a:t>
            </a:r>
          </a:p>
          <a:p>
            <a:pPr algn="ctr">
              <a:lnSpc>
                <a:spcPct val="112000"/>
              </a:lnSpc>
            </a:pPr>
            <a:r>
              <a:rPr sz="1700" b="1">
                <a:solidFill>
                  <a:srgbClr val="FFFFFF"/>
                </a:solidFill>
                <a:latin typeface="맑은 고딕"/>
              </a:rPr>
              <a:t>근거가 남는 식물 관리 상담을 제공한다"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기존 서비스의 한계</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커뮤니티 기반 상담 — 즉각적이고 공식적인 답변을 받기 어려움</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팜모닝외부서비스.png"/>
          <p:cNvPicPr>
            <a:picLocks noChangeAspect="1"/>
          </p:cNvPicPr>
          <p:nvPr/>
        </p:nvPicPr>
        <p:blipFill>
          <a:blip r:embed="rId2"/>
          <a:stretch>
            <a:fillRect/>
          </a:stretch>
        </p:blipFill>
        <p:spPr>
          <a:xfrm>
            <a:off x="548640" y="1508760"/>
            <a:ext cx="6675120" cy="3673937"/>
          </a:xfrm>
          <a:prstGeom prst="rect">
            <a:avLst/>
          </a:prstGeom>
          <a:ln w="15875">
            <a:solidFill>
              <a:srgbClr val="E8E8E8"/>
            </a:solidFill>
          </a:ln>
        </p:spPr>
      </p:pic>
      <p:sp>
        <p:nvSpPr>
          <p:cNvPr id="7" name="TextBox 6"/>
          <p:cNvSpPr txBox="1"/>
          <p:nvPr/>
        </p:nvSpPr>
        <p:spPr>
          <a:xfrm>
            <a:off x="566928" y="5257800"/>
            <a:ext cx="6675120" cy="36576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 기존 농업 플랫폼의 병해충 상담 — 이웃 문답형 커뮤니티 구조</a:t>
            </a:r>
          </a:p>
        </p:txBody>
      </p:sp>
      <p:sp>
        <p:nvSpPr>
          <p:cNvPr id="8" name="Rounded Rectangle 7"/>
          <p:cNvSpPr/>
          <p:nvPr/>
        </p:nvSpPr>
        <p:spPr>
          <a:xfrm>
            <a:off x="7543800" y="1508760"/>
            <a:ext cx="4069080" cy="237744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C0453E"/>
                </a:solidFill>
                <a:latin typeface="맑은 고딕"/>
              </a:rPr>
              <a:t>커뮤니티 방식의 한계</a:t>
            </a:r>
          </a:p>
          <a:p>
            <a:pPr algn="l">
              <a:lnSpc>
                <a:spcPct val="118000"/>
              </a:lnSpc>
            </a:pPr>
            <a:r>
              <a:rPr sz="1300" b="0">
                <a:solidFill>
                  <a:srgbClr val="3A3A3A"/>
                </a:solidFill>
                <a:latin typeface="맑은 고딕"/>
              </a:rPr>
              <a:t>·  답변까지 수 시간~수 일 대기, 답변이 없을 수도 있음</a:t>
            </a:r>
          </a:p>
          <a:p>
            <a:pPr algn="l">
              <a:lnSpc>
                <a:spcPct val="118000"/>
              </a:lnSpc>
            </a:pPr>
            <a:r>
              <a:rPr sz="1300" b="0">
                <a:solidFill>
                  <a:srgbClr val="3A3A3A"/>
                </a:solidFill>
                <a:latin typeface="맑은 고딕"/>
              </a:rPr>
              <a:t>·  답변자가 비전문가 이웃 — 정확성 검증 불가</a:t>
            </a:r>
          </a:p>
          <a:p>
            <a:pPr algn="l">
              <a:lnSpc>
                <a:spcPct val="118000"/>
              </a:lnSpc>
            </a:pPr>
            <a:r>
              <a:rPr sz="1300" b="0">
                <a:solidFill>
                  <a:srgbClr val="3A3A3A"/>
                </a:solidFill>
                <a:latin typeface="맑은 고딕"/>
              </a:rPr>
              <a:t>·  같은 질문이 반복돼도 지식이 축적·재사용되지 않음</a:t>
            </a:r>
          </a:p>
          <a:p>
            <a:pPr algn="l">
              <a:lnSpc>
                <a:spcPct val="118000"/>
              </a:lnSpc>
            </a:pPr>
            <a:r>
              <a:rPr sz="1300" b="0">
                <a:solidFill>
                  <a:srgbClr val="3A3A3A"/>
                </a:solidFill>
                <a:latin typeface="맑은 고딕"/>
              </a:rPr>
              <a:t>·  내 식물의 이력(일지·사진)과 연결되지 않는 일회성 문답</a:t>
            </a:r>
          </a:p>
        </p:txBody>
      </p:sp>
      <p:sp>
        <p:nvSpPr>
          <p:cNvPr id="9" name="Rectangle 8"/>
          <p:cNvSpPr/>
          <p:nvPr/>
        </p:nvSpPr>
        <p:spPr>
          <a:xfrm>
            <a:off x="7543800" y="1508760"/>
            <a:ext cx="406908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43800" y="4114800"/>
            <a:ext cx="4069080" cy="182880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600" b="1">
                <a:solidFill>
                  <a:srgbClr val="7CB342"/>
                </a:solidFill>
                <a:latin typeface="맑은 고딕"/>
              </a:rPr>
              <a:t>Farm하니의 접근</a:t>
            </a:r>
          </a:p>
          <a:p>
            <a:pPr algn="ctr">
              <a:lnSpc>
                <a:spcPct val="112000"/>
              </a:lnSpc>
            </a:pPr>
            <a:r>
              <a:rPr sz="1400" b="0">
                <a:solidFill>
                  <a:srgbClr val="FFFFFF"/>
                </a:solidFill>
                <a:latin typeface="맑은 고딕"/>
              </a:rPr>
              <a:t/>
            </a:r>
          </a:p>
          <a:p>
            <a:pPr algn="ctr">
              <a:lnSpc>
                <a:spcPct val="112000"/>
              </a:lnSpc>
            </a:pPr>
            <a:r>
              <a:rPr sz="1400" b="0">
                <a:solidFill>
                  <a:srgbClr val="FFFFFF"/>
                </a:solidFill>
                <a:latin typeface="맑은 고딕"/>
              </a:rPr>
              <a:t>공식 문서 기반 RAG가 내 식물의 기록·사진과 결합해 즉시, 출처와 함께 답변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데이터 수집 및 전처리 ① 데이터 소스</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공공·공식 데이터 소스 → Supabase 통합 적재 1,682건</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554480"/>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645920"/>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농사로</a:t>
            </a:r>
          </a:p>
        </p:txBody>
      </p:sp>
      <p:sp>
        <p:nvSpPr>
          <p:cNvPr id="9" name="TextBox 8"/>
          <p:cNvSpPr txBox="1"/>
          <p:nvPr/>
        </p:nvSpPr>
        <p:spPr>
          <a:xfrm>
            <a:off x="804672" y="2066544"/>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작목정보·전자책·농작업일정·주간농사정보·실내식물</a:t>
            </a:r>
          </a:p>
        </p:txBody>
      </p:sp>
      <p:sp>
        <p:nvSpPr>
          <p:cNvPr id="10" name="TextBox 9"/>
          <p:cNvSpPr txBox="1"/>
          <p:nvPr/>
        </p:nvSpPr>
        <p:spPr>
          <a:xfrm>
            <a:off x="3291840" y="1645920"/>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711건</a:t>
            </a:r>
          </a:p>
        </p:txBody>
      </p:sp>
      <p:sp>
        <p:nvSpPr>
          <p:cNvPr id="11" name="Rounded Rectangle 10"/>
          <p:cNvSpPr/>
          <p:nvPr/>
        </p:nvSpPr>
        <p:spPr>
          <a:xfrm>
            <a:off x="4480560" y="1554480"/>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554480"/>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1645920"/>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NCPMS 병해충</a:t>
            </a:r>
          </a:p>
        </p:txBody>
      </p:sp>
      <p:sp>
        <p:nvSpPr>
          <p:cNvPr id="14" name="TextBox 13"/>
          <p:cNvSpPr txBox="1"/>
          <p:nvPr/>
        </p:nvSpPr>
        <p:spPr>
          <a:xfrm>
            <a:off x="4736592" y="2066544"/>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병·해충 발생조건, 증상, 예방 (OpenAPI)</a:t>
            </a:r>
          </a:p>
        </p:txBody>
      </p:sp>
      <p:sp>
        <p:nvSpPr>
          <p:cNvPr id="15" name="TextBox 14"/>
          <p:cNvSpPr txBox="1"/>
          <p:nvPr/>
        </p:nvSpPr>
        <p:spPr>
          <a:xfrm>
            <a:off x="7223760" y="1645920"/>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479건</a:t>
            </a:r>
          </a:p>
        </p:txBody>
      </p:sp>
      <p:sp>
        <p:nvSpPr>
          <p:cNvPr id="16" name="Rounded Rectangle 15"/>
          <p:cNvSpPr/>
          <p:nvPr/>
        </p:nvSpPr>
        <p:spPr>
          <a:xfrm>
            <a:off x="548640" y="2962656"/>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62656"/>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054096"/>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AI Hub</a:t>
            </a:r>
          </a:p>
        </p:txBody>
      </p:sp>
      <p:sp>
        <p:nvSpPr>
          <p:cNvPr id="19" name="TextBox 18"/>
          <p:cNvSpPr txBox="1"/>
          <p:nvPr/>
        </p:nvSpPr>
        <p:spPr>
          <a:xfrm>
            <a:off x="804672" y="3474720"/>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농축수산 목록·화훼 물주기·육묘 생장</a:t>
            </a:r>
          </a:p>
        </p:txBody>
      </p:sp>
      <p:sp>
        <p:nvSpPr>
          <p:cNvPr id="20" name="TextBox 19"/>
          <p:cNvSpPr txBox="1"/>
          <p:nvPr/>
        </p:nvSpPr>
        <p:spPr>
          <a:xfrm>
            <a:off x="3291840" y="3054096"/>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143건</a:t>
            </a:r>
          </a:p>
        </p:txBody>
      </p:sp>
      <p:sp>
        <p:nvSpPr>
          <p:cNvPr id="21" name="Rounded Rectangle 20"/>
          <p:cNvSpPr/>
          <p:nvPr/>
        </p:nvSpPr>
        <p:spPr>
          <a:xfrm>
            <a:off x="4480560" y="2962656"/>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2962656"/>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3054096"/>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국립수목원 도감</a:t>
            </a:r>
          </a:p>
        </p:txBody>
      </p:sp>
      <p:sp>
        <p:nvSpPr>
          <p:cNvPr id="24" name="TextBox 23"/>
          <p:cNvSpPr txBox="1"/>
          <p:nvPr/>
        </p:nvSpPr>
        <p:spPr>
          <a:xfrm>
            <a:off x="4736592" y="3474720"/>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식물 특징·학명·과명 — 실내·관상·작물</a:t>
            </a:r>
          </a:p>
        </p:txBody>
      </p:sp>
      <p:sp>
        <p:nvSpPr>
          <p:cNvPr id="25" name="TextBox 24"/>
          <p:cNvSpPr txBox="1"/>
          <p:nvPr/>
        </p:nvSpPr>
        <p:spPr>
          <a:xfrm>
            <a:off x="7223760" y="3054096"/>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100건</a:t>
            </a:r>
          </a:p>
        </p:txBody>
      </p:sp>
      <p:sp>
        <p:nvSpPr>
          <p:cNvPr id="26" name="Rounded Rectangle 25"/>
          <p:cNvSpPr/>
          <p:nvPr/>
        </p:nvSpPr>
        <p:spPr>
          <a:xfrm>
            <a:off x="548640" y="4370832"/>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370832"/>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462272"/>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PSIS 농약 정보</a:t>
            </a:r>
          </a:p>
        </p:txBody>
      </p:sp>
      <p:sp>
        <p:nvSpPr>
          <p:cNvPr id="29" name="TextBox 28"/>
          <p:cNvSpPr txBox="1"/>
          <p:nvPr/>
        </p:nvSpPr>
        <p:spPr>
          <a:xfrm>
            <a:off x="804672" y="4882896"/>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농약등록정보 — 안전 참고 전용(safety_reference_only)</a:t>
            </a:r>
          </a:p>
        </p:txBody>
      </p:sp>
      <p:sp>
        <p:nvSpPr>
          <p:cNvPr id="30" name="TextBox 29"/>
          <p:cNvSpPr txBox="1"/>
          <p:nvPr/>
        </p:nvSpPr>
        <p:spPr>
          <a:xfrm>
            <a:off x="3291840" y="4462272"/>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100건</a:t>
            </a:r>
          </a:p>
        </p:txBody>
      </p:sp>
      <p:sp>
        <p:nvSpPr>
          <p:cNvPr id="31" name="Rounded Rectangle 30"/>
          <p:cNvSpPr/>
          <p:nvPr/>
        </p:nvSpPr>
        <p:spPr>
          <a:xfrm>
            <a:off x="4480560" y="4370832"/>
            <a:ext cx="3703320" cy="118872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80560" y="4370832"/>
            <a:ext cx="91440" cy="1188720"/>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36592" y="4462272"/>
            <a:ext cx="2606040" cy="365760"/>
          </a:xfrm>
          <a:prstGeom prst="rect">
            <a:avLst/>
          </a:prstGeom>
          <a:noFill/>
        </p:spPr>
        <p:txBody>
          <a:bodyPr wrap="square" anchor="t" lIns="101600" rIns="101600" tIns="50800" bIns="50800">
            <a:spAutoFit/>
          </a:bodyPr>
          <a:lstStyle/>
          <a:p>
            <a:pPr algn="l">
              <a:lnSpc>
                <a:spcPct val="112000"/>
              </a:lnSpc>
            </a:pPr>
            <a:r>
              <a:rPr sz="1400" b="1">
                <a:solidFill>
                  <a:srgbClr val="1E4D2B"/>
                </a:solidFill>
                <a:latin typeface="맑은 고딕"/>
              </a:rPr>
              <a:t>농업날씨365 · 네이버</a:t>
            </a:r>
          </a:p>
        </p:txBody>
      </p:sp>
      <p:sp>
        <p:nvSpPr>
          <p:cNvPr id="34" name="TextBox 33"/>
          <p:cNvSpPr txBox="1"/>
          <p:nvPr/>
        </p:nvSpPr>
        <p:spPr>
          <a:xfrm>
            <a:off x="4736592" y="4882896"/>
            <a:ext cx="2743200" cy="640080"/>
          </a:xfrm>
          <a:prstGeom prst="rect">
            <a:avLst/>
          </a:prstGeom>
          <a:noFill/>
        </p:spPr>
        <p:txBody>
          <a:bodyPr wrap="square" anchor="t" lIns="101600" rIns="101600" tIns="50800" bIns="50800">
            <a:spAutoFit/>
          </a:bodyPr>
          <a:lstStyle/>
          <a:p>
            <a:pPr algn="l">
              <a:lnSpc>
                <a:spcPct val="112000"/>
              </a:lnSpc>
            </a:pPr>
            <a:r>
              <a:rPr sz="1050" b="0">
                <a:solidFill>
                  <a:srgbClr val="8A8A8A"/>
                </a:solidFill>
                <a:latin typeface="맑은 고딕"/>
              </a:rPr>
              <a:t>기상 컨텍스트 100건 + 지식백과 보조 문서 49건</a:t>
            </a:r>
          </a:p>
        </p:txBody>
      </p:sp>
      <p:sp>
        <p:nvSpPr>
          <p:cNvPr id="35" name="TextBox 34"/>
          <p:cNvSpPr txBox="1"/>
          <p:nvPr/>
        </p:nvSpPr>
        <p:spPr>
          <a:xfrm>
            <a:off x="7223760" y="4462272"/>
            <a:ext cx="841248" cy="411480"/>
          </a:xfrm>
          <a:prstGeom prst="rect">
            <a:avLst/>
          </a:prstGeom>
          <a:noFill/>
        </p:spPr>
        <p:txBody>
          <a:bodyPr wrap="square" anchor="t" lIns="101600" rIns="101600" tIns="50800" bIns="50800">
            <a:spAutoFit/>
          </a:bodyPr>
          <a:lstStyle/>
          <a:p>
            <a:pPr algn="r">
              <a:lnSpc>
                <a:spcPct val="112000"/>
              </a:lnSpc>
            </a:pPr>
            <a:r>
              <a:rPr sz="1500" b="1">
                <a:solidFill>
                  <a:srgbClr val="3B7A57"/>
                </a:solidFill>
                <a:latin typeface="맑은 고딕"/>
              </a:rPr>
              <a:t>149건</a:t>
            </a:r>
          </a:p>
        </p:txBody>
      </p:sp>
      <p:sp>
        <p:nvSpPr>
          <p:cNvPr id="36" name="Rounded Rectangle 35"/>
          <p:cNvSpPr/>
          <p:nvPr/>
        </p:nvSpPr>
        <p:spPr>
          <a:xfrm>
            <a:off x="8458200" y="1554480"/>
            <a:ext cx="3200400" cy="192024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800" b="1">
                <a:solidFill>
                  <a:srgbClr val="FFFFFF"/>
                </a:solidFill>
                <a:latin typeface="맑은 고딕"/>
              </a:rPr>
              <a:t>최종 적재 청크</a:t>
            </a:r>
          </a:p>
          <a:p>
            <a:pPr algn="ctr">
              <a:lnSpc>
                <a:spcPct val="112000"/>
              </a:lnSpc>
            </a:pPr>
            <a:r>
              <a:rPr sz="1800" b="1">
                <a:solidFill>
                  <a:srgbClr val="FFFFFF"/>
                </a:solidFill>
                <a:latin typeface="맑은 고딕"/>
              </a:rPr>
              <a:t/>
            </a:r>
          </a:p>
          <a:p>
            <a:pPr algn="ctr">
              <a:lnSpc>
                <a:spcPct val="112000"/>
              </a:lnSpc>
            </a:pPr>
            <a:r>
              <a:rPr sz="4000" b="1">
                <a:solidFill>
                  <a:srgbClr val="7CB342"/>
                </a:solidFill>
                <a:latin typeface="맑은 고딕"/>
              </a:rPr>
              <a:t>1,682건</a:t>
            </a:r>
          </a:p>
        </p:txBody>
      </p:sp>
      <p:sp>
        <p:nvSpPr>
          <p:cNvPr id="37" name="Rounded Rectangle 36"/>
          <p:cNvSpPr/>
          <p:nvPr/>
        </p:nvSpPr>
        <p:spPr>
          <a:xfrm>
            <a:off x="8458200" y="3657600"/>
            <a:ext cx="3200400" cy="233172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400" b="1">
                <a:solidFill>
                  <a:srgbClr val="1E4D2B"/>
                </a:solidFill>
                <a:latin typeface="맑은 고딕"/>
              </a:rPr>
              <a:t>적재 관리 체계</a:t>
            </a:r>
          </a:p>
          <a:p>
            <a:pPr algn="l">
              <a:lnSpc>
                <a:spcPct val="118000"/>
              </a:lnSpc>
            </a:pPr>
            <a:r>
              <a:rPr sz="1150" b="0">
                <a:solidFill>
                  <a:srgbClr val="3A3A3A"/>
                </a:solidFill>
                <a:latin typeface="맑은 고딕"/>
              </a:rPr>
              <a:t>·  rag_sources / rag_chunks 테이블 통합 적재 (16개 세부 출처)</a:t>
            </a:r>
          </a:p>
          <a:p>
            <a:pPr algn="l">
              <a:lnSpc>
                <a:spcPct val="118000"/>
              </a:lnSpc>
            </a:pPr>
            <a:r>
              <a:rPr sz="1150" b="0">
                <a:solidFill>
                  <a:srgbClr val="3A3A3A"/>
                </a:solidFill>
                <a:latin typeface="맑은 고딕"/>
              </a:rPr>
              <a:t>·  category로 문서 성격 구분 (crop_care, pest_reference 등)</a:t>
            </a:r>
          </a:p>
          <a:p>
            <a:pPr algn="l">
              <a:lnSpc>
                <a:spcPct val="118000"/>
              </a:lnSpc>
            </a:pPr>
            <a:r>
              <a:rPr sz="1150" b="0">
                <a:solidFill>
                  <a:srgbClr val="3A3A3A"/>
                </a:solidFill>
                <a:latin typeface="맑은 고딕"/>
              </a:rPr>
              <a:t>·  usage_scope로 RAG 사용 범위 제어 (rag / reference_only / safety_reference_only)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데이터 수집 및 전처리 ② 파이프라인</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수집 → 정규화 → 청킹 → 임베딩 → pgvector 적재</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404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수집</a:t>
            </a:r>
          </a:p>
          <a:p>
            <a:pPr algn="ctr">
              <a:lnSpc>
                <a:spcPct val="112000"/>
              </a:lnSpc>
            </a:pPr>
            <a:r>
              <a:rPr sz="950" b="0">
                <a:solidFill>
                  <a:srgbClr val="8A8A8A"/>
                </a:solidFill>
                <a:latin typeface="맑은 고딕"/>
              </a:rPr>
              <a:t>공공 API·CSV·HWPX</a:t>
            </a:r>
          </a:p>
        </p:txBody>
      </p:sp>
      <p:sp>
        <p:nvSpPr>
          <p:cNvPr id="7" name="Right Arrow 6"/>
          <p:cNvSpPr/>
          <p:nvPr/>
        </p:nvSpPr>
        <p:spPr>
          <a:xfrm>
            <a:off x="186994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02996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정규화</a:t>
            </a:r>
          </a:p>
          <a:p>
            <a:pPr algn="ctr">
              <a:lnSpc>
                <a:spcPct val="112000"/>
              </a:lnSpc>
            </a:pPr>
            <a:r>
              <a:rPr sz="950" b="0">
                <a:solidFill>
                  <a:srgbClr val="8A8A8A"/>
                </a:solidFill>
                <a:latin typeface="맑은 고딕"/>
              </a:rPr>
              <a:t>JSONL 표준 스키마</a:t>
            </a:r>
          </a:p>
        </p:txBody>
      </p:sp>
      <p:sp>
        <p:nvSpPr>
          <p:cNvPr id="9" name="Right Arrow 8"/>
          <p:cNvSpPr/>
          <p:nvPr/>
        </p:nvSpPr>
        <p:spPr>
          <a:xfrm>
            <a:off x="351586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7588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클렌징</a:t>
            </a:r>
          </a:p>
          <a:p>
            <a:pPr algn="ctr">
              <a:lnSpc>
                <a:spcPct val="112000"/>
              </a:lnSpc>
            </a:pPr>
            <a:r>
              <a:rPr sz="950" b="0">
                <a:solidFill>
                  <a:srgbClr val="8A8A8A"/>
                </a:solidFill>
                <a:latin typeface="맑은 고딕"/>
              </a:rPr>
              <a:t>HTML·공백 제거</a:t>
            </a:r>
          </a:p>
        </p:txBody>
      </p:sp>
      <p:sp>
        <p:nvSpPr>
          <p:cNvPr id="11" name="Right Arrow 10"/>
          <p:cNvSpPr/>
          <p:nvPr/>
        </p:nvSpPr>
        <p:spPr>
          <a:xfrm>
            <a:off x="516178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2180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메타 매핑</a:t>
            </a:r>
          </a:p>
          <a:p>
            <a:pPr algn="ctr">
              <a:lnSpc>
                <a:spcPct val="112000"/>
              </a:lnSpc>
            </a:pPr>
            <a:r>
              <a:rPr sz="950" b="0">
                <a:solidFill>
                  <a:srgbClr val="8A8A8A"/>
                </a:solidFill>
                <a:latin typeface="맑은 고딕"/>
              </a:rPr>
              <a:t>식물명 사전 태깅</a:t>
            </a:r>
          </a:p>
        </p:txBody>
      </p:sp>
      <p:sp>
        <p:nvSpPr>
          <p:cNvPr id="13" name="Right Arrow 12"/>
          <p:cNvSpPr/>
          <p:nvPr/>
        </p:nvSpPr>
        <p:spPr>
          <a:xfrm>
            <a:off x="680770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967728" y="1481328"/>
            <a:ext cx="1481328" cy="1024128"/>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청킹</a:t>
            </a:r>
          </a:p>
          <a:p>
            <a:pPr algn="ctr">
              <a:lnSpc>
                <a:spcPct val="112000"/>
              </a:lnSpc>
            </a:pPr>
            <a:r>
              <a:rPr sz="950" b="0">
                <a:solidFill>
                  <a:srgbClr val="7CB342"/>
                </a:solidFill>
                <a:latin typeface="맑은 고딕"/>
              </a:rPr>
              <a:t>출처별 가변 크기</a:t>
            </a:r>
          </a:p>
        </p:txBody>
      </p:sp>
      <p:sp>
        <p:nvSpPr>
          <p:cNvPr id="15" name="Right Arrow 14"/>
          <p:cNvSpPr/>
          <p:nvPr/>
        </p:nvSpPr>
        <p:spPr>
          <a:xfrm>
            <a:off x="845362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13648" y="1481328"/>
            <a:ext cx="1481328" cy="1024128"/>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임베딩</a:t>
            </a:r>
          </a:p>
          <a:p>
            <a:pPr algn="ctr">
              <a:lnSpc>
                <a:spcPct val="112000"/>
              </a:lnSpc>
            </a:pPr>
            <a:r>
              <a:rPr sz="950" b="0">
                <a:solidFill>
                  <a:srgbClr val="7CB342"/>
                </a:solidFill>
                <a:latin typeface="맑은 고딕"/>
              </a:rPr>
              <a:t>1536차원 벡터</a:t>
            </a:r>
          </a:p>
        </p:txBody>
      </p:sp>
      <p:sp>
        <p:nvSpPr>
          <p:cNvPr id="17" name="Right Arrow 16"/>
          <p:cNvSpPr/>
          <p:nvPr/>
        </p:nvSpPr>
        <p:spPr>
          <a:xfrm>
            <a:off x="10099548" y="1865376"/>
            <a:ext cx="155448" cy="237744"/>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59568" y="1481328"/>
            <a:ext cx="1481328" cy="1024128"/>
          </a:xfrm>
          <a:prstGeom prst="roundRect">
            <a:avLst/>
          </a:prstGeom>
          <a:solidFill>
            <a:srgbClr val="FFFFFF"/>
          </a:solidFill>
          <a:ln w="19050">
            <a:solidFill>
              <a:srgbClr val="3B7A57"/>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적재</a:t>
            </a:r>
          </a:p>
          <a:p>
            <a:pPr algn="ctr">
              <a:lnSpc>
                <a:spcPct val="112000"/>
              </a:lnSpc>
            </a:pPr>
            <a:r>
              <a:rPr sz="950" b="0">
                <a:solidFill>
                  <a:srgbClr val="8A8A8A"/>
                </a:solidFill>
                <a:latin typeface="맑은 고딕"/>
              </a:rPr>
              <a:t>Supabase pgvector</a:t>
            </a:r>
          </a:p>
        </p:txBody>
      </p:sp>
      <p:sp>
        <p:nvSpPr>
          <p:cNvPr id="19" name="Rounded Rectangle 18"/>
          <p:cNvSpPr/>
          <p:nvPr/>
        </p:nvSpPr>
        <p:spPr>
          <a:xfrm>
            <a:off x="548640" y="2834640"/>
            <a:ext cx="5577840" cy="269748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ctr">
              <a:spcAft>
                <a:spcPts val="600"/>
              </a:spcAft>
            </a:pPr>
            <a:r>
              <a:rPr sz="1600" b="1">
                <a:solidFill>
                  <a:srgbClr val="1E4D2B"/>
                </a:solidFill>
                <a:latin typeface="맑은 고딕"/>
              </a:rPr>
              <a:t>출처별 가변 청킹 전략</a:t>
            </a:r>
          </a:p>
          <a:p>
            <a:pPr>
              <a:lnSpc>
                <a:spcPct val="115000"/>
              </a:lnSpc>
            </a:pPr>
            <a:r>
              <a:rPr sz="1250" b="1">
                <a:solidFill>
                  <a:srgbClr val="3A3A3A"/>
                </a:solidFill>
                <a:latin typeface="맑은 고딕"/>
              </a:rPr>
              <a:t>·  기본값 (HWPX 작업일정 등) — </a:t>
            </a:r>
            <a:r>
              <a:rPr sz="1250" b="1">
                <a:solidFill>
                  <a:srgbClr val="3B7A57"/>
                </a:solidFill>
                <a:latin typeface="맑은 고딕"/>
              </a:rPr>
              <a:t>2200자 / overlap 250자</a:t>
            </a:r>
          </a:p>
          <a:p>
            <a:pPr>
              <a:lnSpc>
                <a:spcPct val="110000"/>
              </a:lnSpc>
            </a:pPr>
            <a:r>
              <a:rPr sz="1100">
                <a:solidFill>
                  <a:srgbClr val="8A8A8A"/>
                </a:solidFill>
                <a:latin typeface="맑은 고딕"/>
              </a:rPr>
              <a:t>      표·문단 재구성 문서 — 일정 흐름 맥락 보존</a:t>
            </a:r>
          </a:p>
          <a:p>
            <a:pPr>
              <a:lnSpc>
                <a:spcPct val="115000"/>
              </a:lnSpc>
            </a:pPr>
            <a:r>
              <a:rPr sz="1250" b="1">
                <a:solidFill>
                  <a:srgbClr val="3A3A3A"/>
                </a:solidFill>
                <a:latin typeface="맑은 고딕"/>
              </a:rPr>
              <a:t>·  NCPMS 병해충 문서 — </a:t>
            </a:r>
            <a:r>
              <a:rPr sz="1250" b="1">
                <a:solidFill>
                  <a:srgbClr val="3B7A57"/>
                </a:solidFill>
                <a:latin typeface="맑은 고딕"/>
              </a:rPr>
              <a:t>1400자 / overlap 160자</a:t>
            </a:r>
          </a:p>
          <a:p>
            <a:pPr>
              <a:lnSpc>
                <a:spcPct val="110000"/>
              </a:lnSpc>
            </a:pPr>
            <a:r>
              <a:rPr sz="1100">
                <a:solidFill>
                  <a:srgbClr val="8A8A8A"/>
                </a:solidFill>
                <a:latin typeface="맑은 고딕"/>
              </a:rPr>
              <a:t>      증상·발생조건·예방이 짧고 밀도 높음</a:t>
            </a:r>
          </a:p>
          <a:p>
            <a:pPr>
              <a:lnSpc>
                <a:spcPct val="115000"/>
              </a:lnSpc>
            </a:pPr>
            <a:r>
              <a:rPr sz="1250" b="1">
                <a:solidFill>
                  <a:srgbClr val="3A3A3A"/>
                </a:solidFill>
                <a:latin typeface="맑은 고딕"/>
              </a:rPr>
              <a:t>·  농사로 실내식물·작물 — </a:t>
            </a:r>
            <a:r>
              <a:rPr sz="1250" b="1">
                <a:solidFill>
                  <a:srgbClr val="3B7A57"/>
                </a:solidFill>
                <a:latin typeface="맑은 고딕"/>
              </a:rPr>
              <a:t>1200자 / overlap 140자</a:t>
            </a:r>
          </a:p>
          <a:p>
            <a:pPr>
              <a:lnSpc>
                <a:spcPct val="110000"/>
              </a:lnSpc>
            </a:pPr>
            <a:r>
              <a:rPr sz="1100">
                <a:solidFill>
                  <a:srgbClr val="8A8A8A"/>
                </a:solidFill>
                <a:latin typeface="맑은 고딕"/>
              </a:rPr>
              <a:t>      물주기·광도 등 항목형 정보에 최적</a:t>
            </a:r>
          </a:p>
          <a:p>
            <a:pPr>
              <a:lnSpc>
                <a:spcPct val="120000"/>
              </a:lnSpc>
            </a:pPr>
            <a:r>
              <a:rPr sz="1150">
                <a:solidFill>
                  <a:srgbClr val="3A3A3A"/>
                </a:solidFill>
                <a:latin typeface="맑은 고딕"/>
              </a:rPr>
              <a:t>·  문장 마침표·개행 경계를 추적하는 문맥 보존형 분할 + overlap으로 경계 유실 방지</a:t>
            </a:r>
          </a:p>
        </p:txBody>
      </p:sp>
      <p:sp>
        <p:nvSpPr>
          <p:cNvPr id="20" name="Rounded Rectangle 19"/>
          <p:cNvSpPr/>
          <p:nvPr/>
        </p:nvSpPr>
        <p:spPr>
          <a:xfrm>
            <a:off x="6355080" y="2834640"/>
            <a:ext cx="5303520" cy="26974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77800"/>
          <a:lstStyle/>
          <a:p>
            <a:pPr algn="ctr">
              <a:spcAft>
                <a:spcPts val="600"/>
              </a:spcAft>
            </a:pPr>
            <a:r>
              <a:rPr sz="1600" b="1">
                <a:solidFill>
                  <a:srgbClr val="1E4D2B"/>
                </a:solidFill>
                <a:latin typeface="맑은 고딕"/>
              </a:rPr>
              <a:t>임베딩 · 자동 정합성 검증 (QA)</a:t>
            </a:r>
          </a:p>
          <a:p>
            <a:pPr>
              <a:spcAft>
                <a:spcPts val="400"/>
              </a:spcAft>
            </a:pPr>
            <a:r>
              <a:rPr sz="1300">
                <a:solidFill>
                  <a:srgbClr val="3A3A3A"/>
                </a:solidFill>
                <a:latin typeface="맑은 고딕"/>
              </a:rPr>
              <a:t>validate_processed_data.py  →  최종 결과 </a:t>
            </a:r>
            <a:r>
              <a:rPr sz="1500" b="1">
                <a:solidFill>
                  <a:srgbClr val="3B7A57"/>
                </a:solidFill>
                <a:latin typeface="맑은 고딕"/>
              </a:rPr>
              <a:t>PASS ✔</a:t>
            </a:r>
          </a:p>
          <a:p>
            <a:pPr>
              <a:lnSpc>
                <a:spcPct val="120000"/>
              </a:lnSpc>
            </a:pPr>
            <a:r>
              <a:rPr sz="1250">
                <a:solidFill>
                  <a:srgbClr val="3A3A3A"/>
                </a:solidFill>
                <a:latin typeface="맑은 고딕"/>
              </a:rPr>
              <a:t>·  임베딩: OpenAI text-embedding-3-small (1536차원)</a:t>
            </a:r>
          </a:p>
          <a:p>
            <a:pPr>
              <a:lnSpc>
                <a:spcPct val="120000"/>
              </a:lnSpc>
            </a:pPr>
            <a:r>
              <a:rPr sz="1250">
                <a:solidFill>
                  <a:srgbClr val="3A3A3A"/>
                </a:solidFill>
                <a:latin typeface="맑은 고딕"/>
              </a:rPr>
              <a:t>·  로컬 선캐싱(Decoupling) 후 DB 적재로 정합성 확보</a:t>
            </a:r>
          </a:p>
          <a:p>
            <a:pPr>
              <a:lnSpc>
                <a:spcPct val="120000"/>
              </a:lnSpc>
            </a:pPr>
            <a:r>
              <a:rPr sz="1250">
                <a:solidFill>
                  <a:srgbClr val="3A3A3A"/>
                </a:solidFill>
                <a:latin typeface="맑은 고딕"/>
              </a:rPr>
              <a:t>·  청크 chunk_id UUID 고유성 · rag_sources FK 연결 검증</a:t>
            </a:r>
          </a:p>
          <a:p>
            <a:pPr>
              <a:lnSpc>
                <a:spcPct val="120000"/>
              </a:lnSpc>
            </a:pPr>
            <a:r>
              <a:rPr sz="1250">
                <a:solidFill>
                  <a:srgbClr val="3A3A3A"/>
                </a:solidFill>
                <a:latin typeface="맑은 고딕"/>
              </a:rPr>
              <a:t>·  임베딩 벡터 1536차원 일치 확인</a:t>
            </a:r>
          </a:p>
          <a:p>
            <a:pPr>
              <a:lnSpc>
                <a:spcPct val="120000"/>
              </a:lnSpc>
            </a:pPr>
            <a:r>
              <a:rPr sz="1250">
                <a:solidFill>
                  <a:srgbClr val="3A3A3A"/>
                </a:solidFill>
                <a:latin typeface="맑은 고딕"/>
              </a:rPr>
              <a:t>·  농약 문서 pesticide_caution 안전 태그 주입 검증</a:t>
            </a:r>
          </a:p>
        </p:txBody>
      </p:sp>
      <p:sp>
        <p:nvSpPr>
          <p:cNvPr id="21" name="Rectangle 20"/>
          <p:cNvSpPr/>
          <p:nvPr/>
        </p:nvSpPr>
        <p:spPr>
          <a:xfrm>
            <a:off x="6355080" y="2834640"/>
            <a:ext cx="530352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RAG 기술 ① LangGraph 파이프라인</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10단계 에이전틱 워크플로우 — StateGraph 시각화</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anggraph_flow.png"/>
          <p:cNvPicPr>
            <a:picLocks noChangeAspect="1"/>
          </p:cNvPicPr>
          <p:nvPr/>
        </p:nvPicPr>
        <p:blipFill>
          <a:blip r:embed="rId2"/>
          <a:stretch>
            <a:fillRect/>
          </a:stretch>
        </p:blipFill>
        <p:spPr>
          <a:xfrm>
            <a:off x="685800" y="1371600"/>
            <a:ext cx="1932753" cy="5212080"/>
          </a:xfrm>
          <a:prstGeom prst="rect">
            <a:avLst/>
          </a:prstGeom>
          <a:ln w="15875">
            <a:solidFill>
              <a:srgbClr val="E8E8E8"/>
            </a:solidFill>
          </a:ln>
        </p:spPr>
      </p:pic>
      <p:sp>
        <p:nvSpPr>
          <p:cNvPr id="7" name="Rounded Rectangle 6"/>
          <p:cNvSpPr/>
          <p:nvPr/>
        </p:nvSpPr>
        <p:spPr>
          <a:xfrm>
            <a:off x="3108960" y="1371600"/>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0" y="1371600"/>
            <a:ext cx="82296" cy="969264"/>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417320"/>
            <a:ext cx="8138160" cy="320040"/>
          </a:xfrm>
          <a:prstGeom prst="rect">
            <a:avLst/>
          </a:prstGeom>
          <a:noFill/>
        </p:spPr>
        <p:txBody>
          <a:bodyPr wrap="square" anchor="t" lIns="101600" rIns="101600" tIns="50800" bIns="50800">
            <a:spAutoFit/>
          </a:bodyPr>
          <a:lstStyle/>
          <a:p>
            <a:pPr algn="l">
              <a:lnSpc>
                <a:spcPct val="112000"/>
              </a:lnSpc>
            </a:pPr>
            <a:r>
              <a:rPr sz="1350" b="1">
                <a:solidFill>
                  <a:srgbClr val="3B7A57"/>
                </a:solidFill>
                <a:latin typeface="맑은 고딕"/>
              </a:rPr>
              <a:t>입력 이해  (1~4단계)</a:t>
            </a:r>
          </a:p>
        </p:txBody>
      </p:sp>
      <p:sp>
        <p:nvSpPr>
          <p:cNvPr id="10" name="TextBox 9"/>
          <p:cNvSpPr txBox="1"/>
          <p:nvPr/>
        </p:nvSpPr>
        <p:spPr>
          <a:xfrm>
            <a:off x="3337560" y="1755648"/>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식물·일지·사진 검증 → 대화 이력 로드 → Vision 이상 신호 추출 → 사용자 맥락 요약</a:t>
            </a:r>
          </a:p>
          <a:p>
            <a:pPr algn="l">
              <a:lnSpc>
                <a:spcPct val="112000"/>
              </a:lnSpc>
            </a:pPr>
            <a:r>
              <a:rPr sz="1100" b="0">
                <a:solidFill>
                  <a:srgbClr val="3A3A3A"/>
                </a:solidFill>
                <a:latin typeface="맑은 고딕"/>
              </a:rPr>
              <a:t>사용자의 식물 상태와 질문 의도를 구조화된 컨텍스트로 정리</a:t>
            </a:r>
          </a:p>
        </p:txBody>
      </p:sp>
      <p:sp>
        <p:nvSpPr>
          <p:cNvPr id="11" name="Rounded Rectangle 10"/>
          <p:cNvSpPr/>
          <p:nvPr/>
        </p:nvSpPr>
        <p:spPr>
          <a:xfrm>
            <a:off x="3108960" y="2450591"/>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08960" y="2450591"/>
            <a:ext cx="82296" cy="969264"/>
          </a:xfrm>
          <a:prstGeom prst="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2496311"/>
            <a:ext cx="8138160" cy="320040"/>
          </a:xfrm>
          <a:prstGeom prst="rect">
            <a:avLst/>
          </a:prstGeom>
          <a:noFill/>
        </p:spPr>
        <p:txBody>
          <a:bodyPr wrap="square" anchor="t" lIns="101600" rIns="101600" tIns="50800" bIns="50800">
            <a:spAutoFit/>
          </a:bodyPr>
          <a:lstStyle/>
          <a:p>
            <a:pPr algn="l">
              <a:lnSpc>
                <a:spcPct val="112000"/>
              </a:lnSpc>
            </a:pPr>
            <a:r>
              <a:rPr sz="1350" b="1">
                <a:solidFill>
                  <a:srgbClr val="3B7A57"/>
                </a:solidFill>
                <a:latin typeface="맑은 고딕"/>
              </a:rPr>
              <a:t>검색  (5~6단계)</a:t>
            </a:r>
          </a:p>
        </p:txBody>
      </p:sp>
      <p:sp>
        <p:nvSpPr>
          <p:cNvPr id="14" name="TextBox 13"/>
          <p:cNvSpPr txBox="1"/>
          <p:nvPr/>
        </p:nvSpPr>
        <p:spPr>
          <a:xfrm>
            <a:off x="3337560" y="2834639"/>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LLM 쿼리 확장(3개 생성) → pgvector 유사도 + 키워드 하이브리드 검색(RRF 병합)</a:t>
            </a:r>
          </a:p>
          <a:p>
            <a:pPr algn="l">
              <a:lnSpc>
                <a:spcPct val="112000"/>
              </a:lnSpc>
            </a:pPr>
            <a:r>
              <a:rPr sz="1100" b="0">
                <a:solidFill>
                  <a:srgbClr val="3A3A3A"/>
                </a:solidFill>
                <a:latin typeface="맑은 고딕"/>
              </a:rPr>
              <a:t>임계값을 완화해 후보 문서를 폭넓게 수집 (Recall 확보)</a:t>
            </a:r>
          </a:p>
        </p:txBody>
      </p:sp>
      <p:sp>
        <p:nvSpPr>
          <p:cNvPr id="15" name="Rounded Rectangle 14"/>
          <p:cNvSpPr/>
          <p:nvPr/>
        </p:nvSpPr>
        <p:spPr>
          <a:xfrm>
            <a:off x="3108960" y="3529583"/>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08960" y="3529583"/>
            <a:ext cx="82296" cy="969264"/>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7560" y="3575303"/>
            <a:ext cx="8138160" cy="320040"/>
          </a:xfrm>
          <a:prstGeom prst="rect">
            <a:avLst/>
          </a:prstGeom>
          <a:noFill/>
        </p:spPr>
        <p:txBody>
          <a:bodyPr wrap="square" anchor="t" lIns="101600" rIns="101600" tIns="50800" bIns="50800">
            <a:spAutoFit/>
          </a:bodyPr>
          <a:lstStyle/>
          <a:p>
            <a:pPr algn="l">
              <a:lnSpc>
                <a:spcPct val="112000"/>
              </a:lnSpc>
            </a:pPr>
            <a:r>
              <a:rPr sz="1350" b="1">
                <a:solidFill>
                  <a:srgbClr val="C0453E"/>
                </a:solidFill>
                <a:latin typeface="맑은 고딕"/>
              </a:rPr>
              <a:t>검증 · 필터링  (7단계)  — 핵심</a:t>
            </a:r>
          </a:p>
        </p:txBody>
      </p:sp>
      <p:sp>
        <p:nvSpPr>
          <p:cNvPr id="18" name="TextBox 17"/>
          <p:cNvSpPr txBox="1"/>
          <p:nvPr/>
        </p:nvSpPr>
        <p:spPr>
          <a:xfrm>
            <a:off x="3337560" y="3913631"/>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grade_or_rerank: LLM이 후보 문서를 하나씩 읽고 질문 식물종과 일치하는지 검증</a:t>
            </a:r>
          </a:p>
          <a:p>
            <a:pPr algn="l">
              <a:lnSpc>
                <a:spcPct val="112000"/>
              </a:lnSpc>
            </a:pPr>
            <a:r>
              <a:rPr sz="1100" b="0">
                <a:solidFill>
                  <a:srgbClr val="3A3A3A"/>
                </a:solidFill>
                <a:latin typeface="맑은 고딕"/>
              </a:rPr>
              <a:t>무관한 문서를 엄격히 탈락시켜 환각을 원천 차단 (Precision 확보)</a:t>
            </a:r>
          </a:p>
        </p:txBody>
      </p:sp>
      <p:sp>
        <p:nvSpPr>
          <p:cNvPr id="19" name="Rounded Rectangle 18"/>
          <p:cNvSpPr/>
          <p:nvPr/>
        </p:nvSpPr>
        <p:spPr>
          <a:xfrm>
            <a:off x="3108960" y="4608575"/>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108960" y="4608575"/>
            <a:ext cx="82296" cy="969264"/>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37560" y="4654295"/>
            <a:ext cx="8138160" cy="320040"/>
          </a:xfrm>
          <a:prstGeom prst="rect">
            <a:avLst/>
          </a:prstGeom>
          <a:noFill/>
        </p:spPr>
        <p:txBody>
          <a:bodyPr wrap="square" anchor="t" lIns="101600" rIns="101600" tIns="50800" bIns="50800">
            <a:spAutoFit/>
          </a:bodyPr>
          <a:lstStyle/>
          <a:p>
            <a:pPr algn="l">
              <a:lnSpc>
                <a:spcPct val="112000"/>
              </a:lnSpc>
            </a:pPr>
            <a:r>
              <a:rPr sz="1350" b="1">
                <a:solidFill>
                  <a:srgbClr val="E8A317"/>
                </a:solidFill>
                <a:latin typeface="맑은 고딕"/>
              </a:rPr>
              <a:t>생성 · 안전  (8~9단계)</a:t>
            </a:r>
          </a:p>
        </p:txBody>
      </p:sp>
      <p:sp>
        <p:nvSpPr>
          <p:cNvPr id="22" name="TextBox 21"/>
          <p:cNvSpPr txBox="1"/>
          <p:nvPr/>
        </p:nvSpPr>
        <p:spPr>
          <a:xfrm>
            <a:off x="3337560" y="4992623"/>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전문가 모드 / 반려식물 1인칭 모드에 맞춘 답변 생성 + 출처(citations) 바인딩</a:t>
            </a:r>
          </a:p>
          <a:p>
            <a:pPr algn="l">
              <a:lnSpc>
                <a:spcPct val="112000"/>
              </a:lnSpc>
            </a:pPr>
            <a:r>
              <a:rPr sz="1100" b="0">
                <a:solidFill>
                  <a:srgbClr val="3A3A3A"/>
                </a:solidFill>
                <a:latin typeface="맑은 고딕"/>
              </a:rPr>
              <a:t>safety_review가 농약 관련 답변에 안전 고지를 강제 조립</a:t>
            </a:r>
          </a:p>
        </p:txBody>
      </p:sp>
      <p:sp>
        <p:nvSpPr>
          <p:cNvPr id="23" name="Rounded Rectangle 22"/>
          <p:cNvSpPr/>
          <p:nvPr/>
        </p:nvSpPr>
        <p:spPr>
          <a:xfrm>
            <a:off x="3108960" y="5687567"/>
            <a:ext cx="8503920" cy="969264"/>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0" y="5687567"/>
            <a:ext cx="82296" cy="969264"/>
          </a:xfrm>
          <a:prstGeom prst="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37560" y="5733287"/>
            <a:ext cx="8138160" cy="320040"/>
          </a:xfrm>
          <a:prstGeom prst="rect">
            <a:avLst/>
          </a:prstGeom>
          <a:noFill/>
        </p:spPr>
        <p:txBody>
          <a:bodyPr wrap="square" anchor="t" lIns="101600" rIns="101600" tIns="50800" bIns="50800">
            <a:spAutoFit/>
          </a:bodyPr>
          <a:lstStyle/>
          <a:p>
            <a:pPr algn="l">
              <a:lnSpc>
                <a:spcPct val="112000"/>
              </a:lnSpc>
            </a:pPr>
            <a:r>
              <a:rPr sz="1350" b="1">
                <a:solidFill>
                  <a:srgbClr val="1E4D2B"/>
                </a:solidFill>
                <a:latin typeface="맑은 고딕"/>
              </a:rPr>
              <a:t>영속화  (10단계)</a:t>
            </a:r>
          </a:p>
        </p:txBody>
      </p:sp>
      <p:sp>
        <p:nvSpPr>
          <p:cNvPr id="26" name="TextBox 25"/>
          <p:cNvSpPr txBox="1"/>
          <p:nvPr/>
        </p:nvSpPr>
        <p:spPr>
          <a:xfrm>
            <a:off x="3337560" y="6071615"/>
            <a:ext cx="8138160" cy="548640"/>
          </a:xfrm>
          <a:prstGeom prst="rect">
            <a:avLst/>
          </a:prstGeom>
          <a:noFill/>
        </p:spPr>
        <p:txBody>
          <a:bodyPr wrap="square" anchor="t" lIns="101600" rIns="101600" tIns="50800" bIns="50800">
            <a:spAutoFit/>
          </a:bodyPr>
          <a:lstStyle/>
          <a:p>
            <a:pPr algn="l">
              <a:lnSpc>
                <a:spcPct val="112000"/>
              </a:lnSpc>
            </a:pPr>
            <a:r>
              <a:rPr sz="1100" b="0">
                <a:solidFill>
                  <a:srgbClr val="3A3A3A"/>
                </a:solidFill>
                <a:latin typeface="맑은 고딕"/>
              </a:rPr>
              <a:t>답변·출처·세션 제목을 Supabase에 저장 — 식물별 상담 이력 보존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RAG 기술 ② 품질 개선 및 평가</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LLM-as-a-Judge 자동 평가 기반 Two-Stage Retrieval 개선</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5212080" cy="17830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C0453E"/>
                </a:solidFill>
                <a:latin typeface="맑은 고딕"/>
              </a:rPr>
              <a:t>Before — 초기 한계</a:t>
            </a:r>
          </a:p>
          <a:p>
            <a:pPr algn="l">
              <a:lnSpc>
                <a:spcPct val="118000"/>
              </a:lnSpc>
            </a:pPr>
            <a:r>
              <a:rPr sz="1250" b="0">
                <a:solidFill>
                  <a:srgbClr val="3A3A3A"/>
                </a:solidFill>
                <a:latin typeface="맑은 고딕"/>
              </a:rPr>
              <a:t>·  몬스테라 질문에 '윌마'·'무화과' 문서 검색 (오매칭)</a:t>
            </a:r>
          </a:p>
          <a:p>
            <a:pPr algn="l">
              <a:lnSpc>
                <a:spcPct val="118000"/>
              </a:lnSpc>
            </a:pPr>
            <a:r>
              <a:rPr sz="1250" b="0">
                <a:solidFill>
                  <a:srgbClr val="3A3A3A"/>
                </a:solidFill>
                <a:latin typeface="맑은 고딕"/>
              </a:rPr>
              <a:t>·  무관 문서 강제 주입 → 거짓 답변 생성 (환각)</a:t>
            </a:r>
          </a:p>
          <a:p>
            <a:pPr algn="l">
              <a:lnSpc>
                <a:spcPct val="118000"/>
              </a:lnSpc>
            </a:pPr>
            <a:r>
              <a:rPr sz="1250" b="0">
                <a:solidFill>
                  <a:srgbClr val="3A3A3A"/>
                </a:solidFill>
                <a:latin typeface="맑은 고딕"/>
              </a:rPr>
              <a:t>·  이미지 케이스 추가 후 검색 정확도 3.58점 하락</a:t>
            </a:r>
          </a:p>
        </p:txBody>
      </p:sp>
      <p:sp>
        <p:nvSpPr>
          <p:cNvPr id="7" name="Rectangle 6"/>
          <p:cNvSpPr/>
          <p:nvPr/>
        </p:nvSpPr>
        <p:spPr>
          <a:xfrm>
            <a:off x="502920" y="1417320"/>
            <a:ext cx="521208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3383280"/>
            <a:ext cx="5212080" cy="269748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3B7A57"/>
                </a:solidFill>
                <a:latin typeface="맑은 고딕"/>
              </a:rPr>
              <a:t>After — 핵심 개선 기법</a:t>
            </a:r>
          </a:p>
          <a:p>
            <a:pPr algn="l">
              <a:lnSpc>
                <a:spcPct val="118000"/>
              </a:lnSpc>
            </a:pPr>
            <a:r>
              <a:rPr sz="1250" b="1">
                <a:solidFill>
                  <a:srgbClr val="1E4D2B"/>
                </a:solidFill>
                <a:latin typeface="맑은 고딕"/>
              </a:rPr>
              <a:t>·  Two-Stage Retrieval: 임계값 0.32→0.25 완화로 Recall 확보 후 grade_or_rerank로 Precision 정제</a:t>
            </a:r>
          </a:p>
          <a:p>
            <a:pPr algn="l">
              <a:lnSpc>
                <a:spcPct val="118000"/>
              </a:lnSpc>
            </a:pPr>
            <a:r>
              <a:rPr sz="1250" b="0">
                <a:solidFill>
                  <a:srgbClr val="3A3A3A"/>
                </a:solidFill>
                <a:latin typeface="맑은 고딕"/>
              </a:rPr>
              <a:t>·  한국어 조사 제거 휴리스틱 ("몬스테라는"→"몬스테라")</a:t>
            </a:r>
          </a:p>
          <a:p>
            <a:pPr algn="l">
              <a:lnSpc>
                <a:spcPct val="118000"/>
              </a:lnSpc>
            </a:pPr>
            <a:r>
              <a:rPr sz="1250" b="0">
                <a:solidFill>
                  <a:srgbClr val="3A3A3A"/>
                </a:solidFill>
                <a:latin typeface="맑은 고딕"/>
              </a:rPr>
              <a:t>·  RRF 하이브리드 병합 (벡터+키워드 검색 재정렬)</a:t>
            </a:r>
          </a:p>
          <a:p>
            <a:pPr algn="l">
              <a:lnSpc>
                <a:spcPct val="118000"/>
              </a:lnSpc>
            </a:pPr>
            <a:r>
              <a:rPr sz="1250" b="0">
                <a:solidFill>
                  <a:srgbClr val="3A3A3A"/>
                </a:solidFill>
                <a:latin typeface="맑은 고딕"/>
              </a:rPr>
              <a:t>·  LLM 쿼리 확장 · 식물명 불일치 문서 강제 탈락</a:t>
            </a:r>
          </a:p>
          <a:p>
            <a:pPr algn="l">
              <a:lnSpc>
                <a:spcPct val="118000"/>
              </a:lnSpc>
            </a:pPr>
            <a:r>
              <a:rPr sz="1250" b="0">
                <a:solidFill>
                  <a:srgbClr val="3A3A3A"/>
                </a:solidFill>
                <a:latin typeface="맑은 고딕"/>
              </a:rPr>
              <a:t>·  근거 없으면 "모른다" 선언 — 강제 문서 주입 제거</a:t>
            </a:r>
          </a:p>
        </p:txBody>
      </p:sp>
      <p:sp>
        <p:nvSpPr>
          <p:cNvPr id="9" name="Rectangle 8"/>
          <p:cNvSpPr/>
          <p:nvPr/>
        </p:nvSpPr>
        <p:spPr>
          <a:xfrm>
            <a:off x="502920" y="3383280"/>
            <a:ext cx="521208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5989320" y="1417320"/>
          <a:ext cx="5760720" cy="3520440"/>
        </p:xfrm>
        <a:graphic>
          <a:graphicData uri="http://schemas.openxmlformats.org/drawingml/2006/chart">
            <c:chart xmlns:c="http://schemas.openxmlformats.org/drawingml/2006/chart" r:id="rId2"/>
          </a:graphicData>
        </a:graphic>
      </p:graphicFrame>
      <p:sp>
        <p:nvSpPr>
          <p:cNvPr id="11" name="Rounded Rectangle 10"/>
          <p:cNvSpPr/>
          <p:nvPr/>
        </p:nvSpPr>
        <p:spPr>
          <a:xfrm>
            <a:off x="5989320" y="5120640"/>
            <a:ext cx="5760720" cy="118872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450" b="1">
                <a:solidFill>
                  <a:srgbClr val="1E4D2B"/>
                </a:solidFill>
                <a:latin typeface="맑은 고딕"/>
              </a:rPr>
              <a:t>결과 해석</a:t>
            </a:r>
          </a:p>
          <a:p>
            <a:pPr algn="l">
              <a:lnSpc>
                <a:spcPct val="118000"/>
              </a:lnSpc>
            </a:pPr>
            <a:r>
              <a:rPr sz="1200" b="1">
                <a:solidFill>
                  <a:srgbClr val="1E4D2B"/>
                </a:solidFill>
                <a:latin typeface="맑은 고딕"/>
              </a:rPr>
              <a:t>·  검색 정확도 3.58 → 4.83점 대폭 개선, 사진 반영 만점(5.00)</a:t>
            </a:r>
          </a:p>
          <a:p>
            <a:pPr algn="l">
              <a:lnSpc>
                <a:spcPct val="118000"/>
              </a:lnSpc>
            </a:pPr>
            <a:r>
              <a:rPr sz="1200" b="0">
                <a:solidFill>
                  <a:srgbClr val="3A3A3A"/>
                </a:solidFill>
                <a:latin typeface="맑은 고딕"/>
              </a:rPr>
              <a:t>·  근거 없으면 답변 대신 안전한 거절을 택하는 구조로 전환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시스템 아키텍처 및 배포</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Vercel + Render + Supabase + OpenAI — 전 구간 실배포 완료</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600200"/>
            <a:ext cx="1188720" cy="960120"/>
          </a:xfrm>
          <a:prstGeom prst="round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사용자</a:t>
            </a:r>
          </a:p>
        </p:txBody>
      </p:sp>
      <p:sp>
        <p:nvSpPr>
          <p:cNvPr id="7" name="Right Arrow 6"/>
          <p:cNvSpPr/>
          <p:nvPr/>
        </p:nvSpPr>
        <p:spPr>
          <a:xfrm>
            <a:off x="1655064"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56232" y="1600200"/>
            <a:ext cx="2011680" cy="960120"/>
          </a:xfrm>
          <a:prstGeom prst="round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Vercel</a:t>
            </a:r>
          </a:p>
          <a:p>
            <a:pPr algn="ctr">
              <a:lnSpc>
                <a:spcPct val="112000"/>
              </a:lnSpc>
            </a:pPr>
            <a:r>
              <a:rPr sz="1300" b="1">
                <a:solidFill>
                  <a:srgbClr val="FFFFFF"/>
                </a:solidFill>
                <a:latin typeface="맑은 고딕"/>
              </a:rPr>
              <a:t>React·TS 프론트</a:t>
            </a:r>
          </a:p>
        </p:txBody>
      </p:sp>
      <p:sp>
        <p:nvSpPr>
          <p:cNvPr id="9" name="Right Arrow 8"/>
          <p:cNvSpPr/>
          <p:nvPr/>
        </p:nvSpPr>
        <p:spPr>
          <a:xfrm>
            <a:off x="3877056"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78224" y="1600200"/>
            <a:ext cx="2011680" cy="960120"/>
          </a:xfrm>
          <a:prstGeom prst="roundRect">
            <a:avLst/>
          </a:prstGeom>
          <a:solidFill>
            <a:srgbClr val="3B7A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Render</a:t>
            </a:r>
          </a:p>
          <a:p>
            <a:pPr algn="ctr">
              <a:lnSpc>
                <a:spcPct val="112000"/>
              </a:lnSpc>
            </a:pPr>
            <a:r>
              <a:rPr sz="1300" b="1">
                <a:solidFill>
                  <a:srgbClr val="FFFFFF"/>
                </a:solidFill>
                <a:latin typeface="맑은 고딕"/>
              </a:rPr>
              <a:t>FastAPI 백엔드</a:t>
            </a:r>
          </a:p>
        </p:txBody>
      </p:sp>
      <p:sp>
        <p:nvSpPr>
          <p:cNvPr id="11" name="Right Arrow 10"/>
          <p:cNvSpPr/>
          <p:nvPr/>
        </p:nvSpPr>
        <p:spPr>
          <a:xfrm>
            <a:off x="6099048"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0216" y="1600200"/>
            <a:ext cx="3108960" cy="960120"/>
          </a:xfrm>
          <a:prstGeom prst="roundRect">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FFFFFF"/>
                </a:solidFill>
                <a:latin typeface="맑은 고딕"/>
              </a:rPr>
              <a:t>Supabase</a:t>
            </a:r>
          </a:p>
          <a:p>
            <a:pPr algn="ctr">
              <a:lnSpc>
                <a:spcPct val="112000"/>
              </a:lnSpc>
            </a:pPr>
            <a:r>
              <a:rPr sz="1300" b="1">
                <a:solidFill>
                  <a:srgbClr val="FFFFFF"/>
                </a:solidFill>
                <a:latin typeface="맑은 고딕"/>
              </a:rPr>
              <a:t>Auth·Postgres·pgvector·Storage</a:t>
            </a:r>
          </a:p>
        </p:txBody>
      </p:sp>
      <p:sp>
        <p:nvSpPr>
          <p:cNvPr id="13" name="Right Arrow 12"/>
          <p:cNvSpPr/>
          <p:nvPr/>
        </p:nvSpPr>
        <p:spPr>
          <a:xfrm>
            <a:off x="9418320" y="1947672"/>
            <a:ext cx="182880" cy="256032"/>
          </a:xfrm>
          <a:prstGeom prst="rightArrow">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19488" y="1600200"/>
            <a:ext cx="2377440" cy="960120"/>
          </a:xfrm>
          <a:prstGeom prst="round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300" b="1">
                <a:solidFill>
                  <a:srgbClr val="1E4D2B"/>
                </a:solidFill>
                <a:latin typeface="맑은 고딕"/>
              </a:rPr>
              <a:t>OpenAI</a:t>
            </a:r>
          </a:p>
          <a:p>
            <a:pPr algn="ctr">
              <a:lnSpc>
                <a:spcPct val="112000"/>
              </a:lnSpc>
            </a:pPr>
            <a:r>
              <a:rPr sz="1300" b="1">
                <a:solidFill>
                  <a:srgbClr val="1E4D2B"/>
                </a:solidFill>
                <a:latin typeface="맑은 고딕"/>
              </a:rPr>
              <a:t>LLM·임베딩·Vision</a:t>
            </a:r>
          </a:p>
        </p:txBody>
      </p:sp>
      <p:sp>
        <p:nvSpPr>
          <p:cNvPr id="15" name="Rounded Rectangle 14"/>
          <p:cNvSpPr/>
          <p:nvPr/>
        </p:nvSpPr>
        <p:spPr>
          <a:xfrm>
            <a:off x="548640"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Frontend — Vercel</a:t>
            </a:r>
          </a:p>
          <a:p>
            <a:pPr algn="l">
              <a:lnSpc>
                <a:spcPct val="118000"/>
              </a:lnSpc>
            </a:pPr>
            <a:r>
              <a:rPr sz="1250" b="0">
                <a:solidFill>
                  <a:srgbClr val="3A3A3A"/>
                </a:solidFill>
                <a:latin typeface="맑은 고딕"/>
              </a:rPr>
              <a:t>·  React + TypeScript + Vite</a:t>
            </a:r>
          </a:p>
          <a:p>
            <a:pPr algn="l">
              <a:lnSpc>
                <a:spcPct val="118000"/>
              </a:lnSpc>
            </a:pPr>
            <a:r>
              <a:rPr sz="1250" b="0">
                <a:solidFill>
                  <a:srgbClr val="3A3A3A"/>
                </a:solidFill>
                <a:latin typeface="맑은 고딕"/>
              </a:rPr>
              <a:t>·  로그인·식물 등록·대시보드·AI 상담 UI</a:t>
            </a:r>
          </a:p>
          <a:p>
            <a:pPr algn="l">
              <a:lnSpc>
                <a:spcPct val="118000"/>
              </a:lnSpc>
            </a:pPr>
            <a:r>
              <a:rPr sz="1250" b="0">
                <a:solidFill>
                  <a:srgbClr val="3A3A3A"/>
                </a:solidFill>
                <a:latin typeface="맑은 고딕"/>
              </a:rPr>
              <a:t>·  해시 라우팅 + 디자인 HTML 주입 구조</a:t>
            </a:r>
          </a:p>
        </p:txBody>
      </p:sp>
      <p:sp>
        <p:nvSpPr>
          <p:cNvPr id="16" name="Rounded Rectangle 15"/>
          <p:cNvSpPr/>
          <p:nvPr/>
        </p:nvSpPr>
        <p:spPr>
          <a:xfrm>
            <a:off x="4361688"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Backend — Render</a:t>
            </a:r>
          </a:p>
          <a:p>
            <a:pPr algn="l">
              <a:lnSpc>
                <a:spcPct val="118000"/>
              </a:lnSpc>
            </a:pPr>
            <a:r>
              <a:rPr sz="1250" b="0">
                <a:solidFill>
                  <a:srgbClr val="3A3A3A"/>
                </a:solidFill>
                <a:latin typeface="맑은 고딕"/>
              </a:rPr>
              <a:t>·  FastAPI + Pydantic</a:t>
            </a:r>
          </a:p>
          <a:p>
            <a:pPr algn="l">
              <a:lnSpc>
                <a:spcPct val="118000"/>
              </a:lnSpc>
            </a:pPr>
            <a:r>
              <a:rPr sz="1250" b="0">
                <a:solidFill>
                  <a:srgbClr val="3A3A3A"/>
                </a:solidFill>
                <a:latin typeface="맑은 고딕"/>
              </a:rPr>
              <a:t>·  Supabase JWT 인증 검증</a:t>
            </a:r>
          </a:p>
          <a:p>
            <a:pPr algn="l">
              <a:lnSpc>
                <a:spcPct val="118000"/>
              </a:lnSpc>
            </a:pPr>
            <a:r>
              <a:rPr sz="1250" b="0">
                <a:solidFill>
                  <a:srgbClr val="3A3A3A"/>
                </a:solidFill>
                <a:latin typeface="맑은 고딕"/>
              </a:rPr>
              <a:t>·  RAG 파이프라인(LangGraph) 실행</a:t>
            </a:r>
          </a:p>
        </p:txBody>
      </p:sp>
      <p:sp>
        <p:nvSpPr>
          <p:cNvPr id="17" name="Rounded Rectangle 16"/>
          <p:cNvSpPr/>
          <p:nvPr/>
        </p:nvSpPr>
        <p:spPr>
          <a:xfrm>
            <a:off x="8174736" y="3063240"/>
            <a:ext cx="3611880" cy="22860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00" b="1">
                <a:solidFill>
                  <a:srgbClr val="1E4D2B"/>
                </a:solidFill>
                <a:latin typeface="맑은 고딕"/>
              </a:rPr>
              <a:t>Supabase / OpenAI</a:t>
            </a:r>
          </a:p>
          <a:p>
            <a:pPr algn="l">
              <a:lnSpc>
                <a:spcPct val="118000"/>
              </a:lnSpc>
            </a:pPr>
            <a:r>
              <a:rPr sz="1250" b="0">
                <a:solidFill>
                  <a:srgbClr val="3A3A3A"/>
                </a:solidFill>
                <a:latin typeface="맑은 고딕"/>
              </a:rPr>
              <a:t>·  Auth·Postgres·Storage 통합</a:t>
            </a:r>
          </a:p>
          <a:p>
            <a:pPr algn="l">
              <a:lnSpc>
                <a:spcPct val="118000"/>
              </a:lnSpc>
            </a:pPr>
            <a:r>
              <a:rPr sz="1250" b="0">
                <a:solidFill>
                  <a:srgbClr val="3A3A3A"/>
                </a:solidFill>
                <a:latin typeface="맑은 고딕"/>
              </a:rPr>
              <a:t>·  pgvector 벡터 유사도 검색</a:t>
            </a:r>
          </a:p>
          <a:p>
            <a:pPr algn="l">
              <a:lnSpc>
                <a:spcPct val="118000"/>
              </a:lnSpc>
            </a:pPr>
            <a:r>
              <a:rPr sz="1250" b="0">
                <a:solidFill>
                  <a:srgbClr val="3A3A3A"/>
                </a:solidFill>
                <a:latin typeface="맑은 고딕"/>
              </a:rPr>
              <a:t>·  GPT-4o-mini 채팅·Vision·임베딩</a:t>
            </a:r>
          </a:p>
        </p:txBody>
      </p:sp>
      <p:sp>
        <p:nvSpPr>
          <p:cNvPr id="18" name="TextBox 17"/>
          <p:cNvSpPr txBox="1"/>
          <p:nvPr/>
        </p:nvSpPr>
        <p:spPr>
          <a:xfrm>
            <a:off x="548640" y="5623560"/>
            <a:ext cx="11064240" cy="731520"/>
          </a:xfrm>
          <a:prstGeom prst="rect">
            <a:avLst/>
          </a:prstGeom>
          <a:noFill/>
        </p:spPr>
        <p:txBody>
          <a:bodyPr wrap="square" anchor="t" lIns="101600" rIns="101600" tIns="50800" bIns="50800">
            <a:spAutoFit/>
          </a:bodyPr>
          <a:lstStyle/>
          <a:p>
            <a:pPr algn="l">
              <a:lnSpc>
                <a:spcPct val="112000"/>
              </a:lnSpc>
            </a:pPr>
            <a:r>
              <a:rPr sz="1400" b="1">
                <a:solidFill>
                  <a:srgbClr val="3B7A57"/>
                </a:solidFill>
                <a:latin typeface="맑은 고딕"/>
              </a:rPr>
              <a:t>사용자 인증(JWT)부터 벡터 검색, 이미지 스토리지까지 Supabase로 통합 — service role key는 백엔드에서만 사용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현재의 한계와 확장 계획</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정직한 한계 인식 → 도메인 확장 로드맵</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63040"/>
            <a:ext cx="5349240" cy="228600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C0453E"/>
                </a:solidFill>
                <a:latin typeface="맑은 고딕"/>
              </a:rPr>
              <a:t>현재의 한계</a:t>
            </a:r>
          </a:p>
          <a:p>
            <a:pPr algn="l">
              <a:lnSpc>
                <a:spcPct val="118000"/>
              </a:lnSpc>
            </a:pPr>
            <a:r>
              <a:rPr sz="1300" b="0">
                <a:solidFill>
                  <a:srgbClr val="3A3A3A"/>
                </a:solidFill>
                <a:latin typeface="맑은 고딕"/>
              </a:rPr>
              <a:t>·  방대한 식물 종 대비 데이터 수집이 아직 완전하지 않음 — 문서가 없는 식물은 상담 근거 부족</a:t>
            </a:r>
          </a:p>
          <a:p>
            <a:pPr algn="l">
              <a:lnSpc>
                <a:spcPct val="118000"/>
              </a:lnSpc>
            </a:pPr>
            <a:r>
              <a:rPr sz="1300" b="0">
                <a:solidFill>
                  <a:srgbClr val="3A3A3A"/>
                </a:solidFill>
                <a:latin typeface="맑은 고딕"/>
              </a:rPr>
              <a:t>·  RAG 검색이 완벽하다고 말하기는 어려움 — 무정보 상황의 거절 패턴 등 지속 고도화 필요</a:t>
            </a:r>
          </a:p>
          <a:p>
            <a:pPr algn="l">
              <a:lnSpc>
                <a:spcPct val="118000"/>
              </a:lnSpc>
            </a:pPr>
            <a:r>
              <a:rPr sz="1300" b="0">
                <a:solidFill>
                  <a:srgbClr val="3A3A3A"/>
                </a:solidFill>
                <a:latin typeface="맑은 고딕"/>
              </a:rPr>
              <a:t>·  이미지 진단은 보조 수준 — 정밀 병해 판별은 향후 과제</a:t>
            </a:r>
          </a:p>
        </p:txBody>
      </p:sp>
      <p:sp>
        <p:nvSpPr>
          <p:cNvPr id="7" name="Rectangle 6"/>
          <p:cNvSpPr/>
          <p:nvPr/>
        </p:nvSpPr>
        <p:spPr>
          <a:xfrm>
            <a:off x="548640" y="1463040"/>
            <a:ext cx="5349240" cy="73152"/>
          </a:xfrm>
          <a:prstGeom prst="rect">
            <a:avLst/>
          </a:prstGeom>
          <a:solidFill>
            <a:srgbClr val="C04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63640" y="1463040"/>
            <a:ext cx="5394960" cy="2286000"/>
          </a:xfrm>
          <a:prstGeom prst="round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550" b="1">
                <a:solidFill>
                  <a:srgbClr val="3B7A57"/>
                </a:solidFill>
                <a:latin typeface="맑은 고딕"/>
              </a:rPr>
              <a:t>확장 계획</a:t>
            </a:r>
          </a:p>
          <a:p>
            <a:pPr algn="l">
              <a:lnSpc>
                <a:spcPct val="118000"/>
              </a:lnSpc>
            </a:pPr>
            <a:r>
              <a:rPr sz="1300" b="1">
                <a:solidFill>
                  <a:srgbClr val="1E4D2B"/>
                </a:solidFill>
                <a:latin typeface="맑은 고딕"/>
              </a:rPr>
              <a:t>·  소규모 반려식물 → 대규모 농사·전문 관리 도메인으로 확장</a:t>
            </a:r>
          </a:p>
          <a:p>
            <a:pPr algn="l">
              <a:lnSpc>
                <a:spcPct val="118000"/>
              </a:lnSpc>
            </a:pPr>
            <a:r>
              <a:rPr sz="1300" b="0">
                <a:solidFill>
                  <a:srgbClr val="3A3A3A"/>
                </a:solidFill>
                <a:latin typeface="맑은 고딕"/>
              </a:rPr>
              <a:t>·  규모 있는 재배 농가, 전문적 관리가 필요한 작물까지 반영</a:t>
            </a:r>
          </a:p>
          <a:p>
            <a:pPr algn="l">
              <a:lnSpc>
                <a:spcPct val="118000"/>
              </a:lnSpc>
            </a:pPr>
            <a:r>
              <a:rPr sz="1300" b="0">
                <a:solidFill>
                  <a:srgbClr val="3A3A3A"/>
                </a:solidFill>
                <a:latin typeface="맑은 고딕"/>
              </a:rPr>
              <a:t>·  데이터 커버리지 단계적 확장 (5차 확장 로드맵 진행 중)</a:t>
            </a:r>
          </a:p>
        </p:txBody>
      </p:sp>
      <p:sp>
        <p:nvSpPr>
          <p:cNvPr id="9" name="Rectangle 8"/>
          <p:cNvSpPr/>
          <p:nvPr/>
        </p:nvSpPr>
        <p:spPr>
          <a:xfrm>
            <a:off x="6263640" y="1463040"/>
            <a:ext cx="5394960" cy="73152"/>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4023360"/>
            <a:ext cx="11109960" cy="196596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77800"/>
          <a:lstStyle/>
          <a:p>
            <a:pPr algn="ctr">
              <a:spcAft>
                <a:spcPts val="800"/>
              </a:spcAft>
            </a:pPr>
            <a:r>
              <a:rPr sz="1600" b="1">
                <a:solidFill>
                  <a:srgbClr val="1E4D2B"/>
                </a:solidFill>
                <a:latin typeface="맑은 고딕"/>
              </a:rPr>
              <a:t>확장을 위한 준비 — PSIS 농약등록정보 100건 선제 수집</a:t>
            </a:r>
          </a:p>
          <a:p>
            <a:pPr>
              <a:lnSpc>
                <a:spcPct val="125000"/>
              </a:lnSpc>
            </a:pPr>
            <a:r>
              <a:rPr sz="1350" b="0">
                <a:solidFill>
                  <a:srgbClr val="3A3A3A"/>
                </a:solidFill>
                <a:latin typeface="맑은 고딕"/>
              </a:rPr>
              <a:t>·  현재는 safety_reference_only로 안전 참고 전용 — 일반 상담에서는 직접 활용하지 않음</a:t>
            </a:r>
          </a:p>
          <a:p>
            <a:pPr>
              <a:lnSpc>
                <a:spcPct val="125000"/>
              </a:lnSpc>
            </a:pPr>
            <a:r>
              <a:rPr sz="1350" b="1">
                <a:solidFill>
                  <a:srgbClr val="1E4D2B"/>
                </a:solidFill>
                <a:latin typeface="맑은 고딕"/>
              </a:rPr>
              <a:t>·  향후 전문 농가 대상 방제 가이드(적용 약제·안전 희석 배수) 기능으로 확장 예정</a:t>
            </a:r>
          </a:p>
          <a:p>
            <a:pPr>
              <a:lnSpc>
                <a:spcPct val="125000"/>
              </a:lnSpc>
            </a:pPr>
            <a:r>
              <a:rPr sz="1350" b="0">
                <a:solidFill>
                  <a:srgbClr val="3A3A3A"/>
                </a:solidFill>
                <a:latin typeface="맑은 고딕"/>
              </a:rPr>
              <a:t>·  usage_scope 설계 덕분에 데이터 재수집 없이 정책 변경만으로 활용 범위 확대 가능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384048"/>
            <a:ext cx="82296" cy="56692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2608"/>
            <a:ext cx="10607040" cy="640080"/>
          </a:xfrm>
          <a:prstGeom prst="rect">
            <a:avLst/>
          </a:prstGeom>
          <a:noFill/>
        </p:spPr>
        <p:txBody>
          <a:bodyPr wrap="square" anchor="t" lIns="101600" rIns="101600" tIns="50800" bIns="50800">
            <a:spAutoFit/>
          </a:bodyPr>
          <a:lstStyle/>
          <a:p>
            <a:pPr algn="l">
              <a:lnSpc>
                <a:spcPct val="112000"/>
              </a:lnSpc>
            </a:pPr>
            <a:r>
              <a:rPr sz="2800" b="1">
                <a:solidFill>
                  <a:srgbClr val="1E4D2B"/>
                </a:solidFill>
                <a:latin typeface="맑은 고딕"/>
              </a:rPr>
              <a:t>서비스 시연</a:t>
            </a:r>
          </a:p>
        </p:txBody>
      </p:sp>
      <p:sp>
        <p:nvSpPr>
          <p:cNvPr id="4" name="TextBox 3"/>
          <p:cNvSpPr txBox="1"/>
          <p:nvPr/>
        </p:nvSpPr>
        <p:spPr>
          <a:xfrm>
            <a:off x="749808" y="914400"/>
            <a:ext cx="10972800" cy="365760"/>
          </a:xfrm>
          <a:prstGeom prst="rect">
            <a:avLst/>
          </a:prstGeom>
          <a:noFill/>
        </p:spPr>
        <p:txBody>
          <a:bodyPr wrap="square" anchor="t" lIns="101600" rIns="101600" tIns="50800" bIns="50800">
            <a:spAutoFit/>
          </a:bodyPr>
          <a:lstStyle/>
          <a:p>
            <a:pPr algn="l">
              <a:lnSpc>
                <a:spcPct val="112000"/>
              </a:lnSpc>
            </a:pPr>
            <a:r>
              <a:rPr sz="1250" b="0">
                <a:solidFill>
                  <a:srgbClr val="8A8A8A"/>
                </a:solidFill>
                <a:latin typeface="맑은 고딕"/>
              </a:rPr>
              <a:t>실제 배포 서비스 — 메인 대시보드</a:t>
            </a:r>
          </a:p>
        </p:txBody>
      </p:sp>
      <p:sp>
        <p:nvSpPr>
          <p:cNvPr id="5" name="Oval 4"/>
          <p:cNvSpPr/>
          <p:nvPr/>
        </p:nvSpPr>
        <p:spPr>
          <a:xfrm>
            <a:off x="11658600" y="457200"/>
            <a:ext cx="128016" cy="128016"/>
          </a:xfrm>
          <a:prstGeom prst="ellipse">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rm시연.png"/>
          <p:cNvPicPr>
            <a:picLocks noChangeAspect="1"/>
          </p:cNvPicPr>
          <p:nvPr/>
        </p:nvPicPr>
        <p:blipFill>
          <a:blip r:embed="rId2"/>
          <a:stretch>
            <a:fillRect/>
          </a:stretch>
        </p:blipFill>
        <p:spPr>
          <a:xfrm>
            <a:off x="502920" y="1417320"/>
            <a:ext cx="7863840" cy="4471107"/>
          </a:xfrm>
          <a:prstGeom prst="rect">
            <a:avLst/>
          </a:prstGeom>
          <a:ln w="15875">
            <a:solidFill>
              <a:srgbClr val="E8E8E8"/>
            </a:solidFill>
          </a:ln>
        </p:spPr>
      </p:pic>
      <p:sp>
        <p:nvSpPr>
          <p:cNvPr id="7" name="TextBox 6"/>
          <p:cNvSpPr txBox="1"/>
          <p:nvPr/>
        </p:nvSpPr>
        <p:spPr>
          <a:xfrm>
            <a:off x="521207" y="5943600"/>
            <a:ext cx="7863840" cy="365760"/>
          </a:xfrm>
          <a:prstGeom prst="rect">
            <a:avLst/>
          </a:prstGeom>
          <a:noFill/>
        </p:spPr>
        <p:txBody>
          <a:bodyPr wrap="square" anchor="t" lIns="101600" rIns="101600" tIns="50800" bIns="50800">
            <a:spAutoFit/>
          </a:bodyPr>
          <a:lstStyle/>
          <a:p>
            <a:pPr algn="l">
              <a:lnSpc>
                <a:spcPct val="112000"/>
              </a:lnSpc>
            </a:pPr>
            <a:r>
              <a:rPr sz="1150" b="0">
                <a:solidFill>
                  <a:srgbClr val="8A8A8A"/>
                </a:solidFill>
                <a:latin typeface="맑은 고딕"/>
              </a:rPr>
              <a:t>▲ Farm하니? 메인 대시보드 — 내 식물 카드 · 건강 개요 · 빠른 AI 진단</a:t>
            </a:r>
          </a:p>
        </p:txBody>
      </p:sp>
      <p:sp>
        <p:nvSpPr>
          <p:cNvPr id="8" name="Oval 7"/>
          <p:cNvSpPr/>
          <p:nvPr/>
        </p:nvSpPr>
        <p:spPr>
          <a:xfrm>
            <a:off x="8641080" y="1472184"/>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1</a:t>
            </a:r>
          </a:p>
        </p:txBody>
      </p:sp>
      <p:sp>
        <p:nvSpPr>
          <p:cNvPr id="9" name="TextBox 8"/>
          <p:cNvSpPr txBox="1"/>
          <p:nvPr/>
        </p:nvSpPr>
        <p:spPr>
          <a:xfrm>
            <a:off x="9144000" y="1435608"/>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로그인 / 회원가입</a:t>
            </a:r>
          </a:p>
        </p:txBody>
      </p:sp>
      <p:sp>
        <p:nvSpPr>
          <p:cNvPr id="10" name="Oval 9"/>
          <p:cNvSpPr/>
          <p:nvPr/>
        </p:nvSpPr>
        <p:spPr>
          <a:xfrm>
            <a:off x="8641080" y="2039112"/>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2</a:t>
            </a:r>
          </a:p>
        </p:txBody>
      </p:sp>
      <p:sp>
        <p:nvSpPr>
          <p:cNvPr id="11" name="TextBox 10"/>
          <p:cNvSpPr txBox="1"/>
          <p:nvPr/>
        </p:nvSpPr>
        <p:spPr>
          <a:xfrm>
            <a:off x="9144000" y="2002536"/>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내 식물 등록 (품종 자동완성)</a:t>
            </a:r>
          </a:p>
        </p:txBody>
      </p:sp>
      <p:sp>
        <p:nvSpPr>
          <p:cNvPr id="12" name="Oval 11"/>
          <p:cNvSpPr/>
          <p:nvPr/>
        </p:nvSpPr>
        <p:spPr>
          <a:xfrm>
            <a:off x="8641080" y="2606040"/>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3</a:t>
            </a:r>
          </a:p>
        </p:txBody>
      </p:sp>
      <p:sp>
        <p:nvSpPr>
          <p:cNvPr id="13" name="TextBox 12"/>
          <p:cNvSpPr txBox="1"/>
          <p:nvPr/>
        </p:nvSpPr>
        <p:spPr>
          <a:xfrm>
            <a:off x="9144000" y="2569464"/>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대시보드에서 상태 확인</a:t>
            </a:r>
          </a:p>
        </p:txBody>
      </p:sp>
      <p:sp>
        <p:nvSpPr>
          <p:cNvPr id="14" name="Oval 13"/>
          <p:cNvSpPr/>
          <p:nvPr/>
        </p:nvSpPr>
        <p:spPr>
          <a:xfrm>
            <a:off x="8641080" y="3172968"/>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4</a:t>
            </a:r>
          </a:p>
        </p:txBody>
      </p:sp>
      <p:sp>
        <p:nvSpPr>
          <p:cNvPr id="15" name="TextBox 14"/>
          <p:cNvSpPr txBox="1"/>
          <p:nvPr/>
        </p:nvSpPr>
        <p:spPr>
          <a:xfrm>
            <a:off x="9144000" y="3136392"/>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AI 상담 — 전문가 / 내 식물과 대화</a:t>
            </a:r>
          </a:p>
        </p:txBody>
      </p:sp>
      <p:sp>
        <p:nvSpPr>
          <p:cNvPr id="16" name="Oval 15"/>
          <p:cNvSpPr/>
          <p:nvPr/>
        </p:nvSpPr>
        <p:spPr>
          <a:xfrm>
            <a:off x="8641080" y="3739896"/>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5</a:t>
            </a:r>
          </a:p>
        </p:txBody>
      </p:sp>
      <p:sp>
        <p:nvSpPr>
          <p:cNvPr id="17" name="TextBox 16"/>
          <p:cNvSpPr txBox="1"/>
          <p:nvPr/>
        </p:nvSpPr>
        <p:spPr>
          <a:xfrm>
            <a:off x="9144000" y="3703320"/>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질문 + 사진 첨부 (Vision 분석)</a:t>
            </a:r>
          </a:p>
        </p:txBody>
      </p:sp>
      <p:sp>
        <p:nvSpPr>
          <p:cNvPr id="18" name="Oval 17"/>
          <p:cNvSpPr/>
          <p:nvPr/>
        </p:nvSpPr>
        <p:spPr>
          <a:xfrm>
            <a:off x="8641080" y="4306824"/>
            <a:ext cx="384048" cy="384048"/>
          </a:xfrm>
          <a:prstGeom prst="ellipse">
            <a:avLst/>
          </a:prstGeom>
          <a:solidFill>
            <a:srgbClr val="1E4D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400" b="1">
                <a:solidFill>
                  <a:srgbClr val="7CB342"/>
                </a:solidFill>
                <a:latin typeface="맑은 고딕"/>
              </a:rPr>
              <a:t>6</a:t>
            </a:r>
          </a:p>
        </p:txBody>
      </p:sp>
      <p:sp>
        <p:nvSpPr>
          <p:cNvPr id="19" name="TextBox 18"/>
          <p:cNvSpPr txBox="1"/>
          <p:nvPr/>
        </p:nvSpPr>
        <p:spPr>
          <a:xfrm>
            <a:off x="9144000" y="4270248"/>
            <a:ext cx="2743200" cy="502920"/>
          </a:xfrm>
          <a:prstGeom prst="rect">
            <a:avLst/>
          </a:prstGeom>
          <a:noFill/>
        </p:spPr>
        <p:txBody>
          <a:bodyPr wrap="square" anchor="t" lIns="101600" rIns="101600" tIns="50800" bIns="50800">
            <a:spAutoFit/>
          </a:bodyPr>
          <a:lstStyle/>
          <a:p>
            <a:pPr algn="l">
              <a:lnSpc>
                <a:spcPct val="112000"/>
              </a:lnSpc>
            </a:pPr>
            <a:r>
              <a:rPr sz="1250" b="1">
                <a:solidFill>
                  <a:srgbClr val="3A3A3A"/>
                </a:solidFill>
                <a:latin typeface="맑은 고딕"/>
              </a:rPr>
              <a:t>RAG 답변 + 공식 문서 출처 확인</a:t>
            </a:r>
          </a:p>
        </p:txBody>
      </p:sp>
      <p:sp>
        <p:nvSpPr>
          <p:cNvPr id="20" name="Rounded Rectangle 19"/>
          <p:cNvSpPr/>
          <p:nvPr/>
        </p:nvSpPr>
        <p:spPr>
          <a:xfrm>
            <a:off x="8641080" y="5029200"/>
            <a:ext cx="3063240" cy="123444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lnSpc>
                <a:spcPct val="112000"/>
              </a:lnSpc>
            </a:pPr>
            <a:r>
              <a:rPr sz="1250" b="1">
                <a:solidFill>
                  <a:srgbClr val="1E4D2B"/>
                </a:solidFill>
                <a:latin typeface="맑은 고딕"/>
              </a:rPr>
              <a:t>사용자별 식물 관리</a:t>
            </a:r>
          </a:p>
          <a:p>
            <a:pPr algn="ctr">
              <a:lnSpc>
                <a:spcPct val="112000"/>
              </a:lnSpc>
            </a:pPr>
            <a:r>
              <a:rPr sz="1250" b="1">
                <a:solidFill>
                  <a:srgbClr val="1E4D2B"/>
                </a:solidFill>
                <a:latin typeface="맑은 고딕"/>
              </a:rPr>
              <a:t>식물별 상담 기록 보존</a:t>
            </a:r>
          </a:p>
          <a:p>
            <a:pPr algn="ctr">
              <a:lnSpc>
                <a:spcPct val="112000"/>
              </a:lnSpc>
            </a:pPr>
            <a:r>
              <a:rPr sz="1250" b="1">
                <a:solidFill>
                  <a:srgbClr val="1E4D2B"/>
                </a:solidFill>
                <a:latin typeface="맑은 고딕"/>
              </a:rPr>
              <a:t>공식 문서 출처 제공</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9692640" y="-1097280"/>
            <a:ext cx="3840480" cy="3840480"/>
          </a:xfrm>
          <a:prstGeom prst="ellipse">
            <a:avLst/>
          </a:prstGeom>
          <a:solidFill>
            <a:srgbClr val="EEF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029200"/>
            <a:ext cx="2743200" cy="2743200"/>
          </a:xfrm>
          <a:prstGeom prst="ellipse">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10332720" cy="1188720"/>
          </a:xfrm>
          <a:prstGeom prst="rect">
            <a:avLst/>
          </a:prstGeom>
          <a:noFill/>
        </p:spPr>
        <p:txBody>
          <a:bodyPr wrap="square" anchor="t" lIns="101600" rIns="101600" tIns="50800" bIns="50800">
            <a:spAutoFit/>
          </a:bodyPr>
          <a:lstStyle/>
          <a:p>
            <a:pPr algn="l">
              <a:lnSpc>
                <a:spcPct val="112000"/>
              </a:lnSpc>
            </a:pPr>
            <a:r>
              <a:rPr sz="6000" b="1">
                <a:solidFill>
                  <a:srgbClr val="1E4D2B"/>
                </a:solidFill>
                <a:latin typeface="맑은 고딕"/>
              </a:rPr>
              <a:t>Q &amp; A</a:t>
            </a:r>
          </a:p>
        </p:txBody>
      </p:sp>
      <p:sp>
        <p:nvSpPr>
          <p:cNvPr id="6" name="Rectangle 5"/>
          <p:cNvSpPr/>
          <p:nvPr/>
        </p:nvSpPr>
        <p:spPr>
          <a:xfrm>
            <a:off x="1051560" y="2560320"/>
            <a:ext cx="1645920" cy="82296"/>
          </a:xfrm>
          <a:prstGeom prst="rect">
            <a:avLst/>
          </a:prstGeom>
          <a:solidFill>
            <a:srgbClr val="7CB3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80360"/>
            <a:ext cx="10058400" cy="822960"/>
          </a:xfrm>
          <a:prstGeom prst="rect">
            <a:avLst/>
          </a:prstGeom>
          <a:noFill/>
        </p:spPr>
        <p:txBody>
          <a:bodyPr wrap="square" anchor="t" lIns="101600" rIns="101600" tIns="50800" bIns="50800">
            <a:spAutoFit/>
          </a:bodyPr>
          <a:lstStyle/>
          <a:p>
            <a:pPr algn="l">
              <a:lnSpc>
                <a:spcPct val="112000"/>
              </a:lnSpc>
            </a:pPr>
            <a:r>
              <a:rPr sz="1800" b="0">
                <a:solidFill>
                  <a:srgbClr val="3A3A3A"/>
                </a:solidFill>
                <a:latin typeface="맑은 고딕"/>
              </a:rPr>
              <a:t>공식 문서 기반 RAG와 사용자 식물 기록을 연결한</a:t>
            </a:r>
          </a:p>
          <a:p>
            <a:pPr algn="l">
              <a:lnSpc>
                <a:spcPct val="112000"/>
              </a:lnSpc>
            </a:pPr>
            <a:r>
              <a:rPr sz="1800" b="0">
                <a:solidFill>
                  <a:srgbClr val="3A3A3A"/>
                </a:solidFill>
                <a:latin typeface="맑은 고딕"/>
              </a:rPr>
              <a:t>개인화 식물 관리 AI, Farm하니? 였습니다. 감사합니다 🌱</a:t>
            </a:r>
          </a:p>
        </p:txBody>
      </p:sp>
      <p:sp>
        <p:nvSpPr>
          <p:cNvPr id="8" name="Rounded Rectangle 7"/>
          <p:cNvSpPr/>
          <p:nvPr/>
        </p:nvSpPr>
        <p:spPr>
          <a:xfrm>
            <a:off x="960120" y="4389120"/>
            <a:ext cx="10332720" cy="1600200"/>
          </a:xfrm>
          <a:prstGeom prst="roundRect">
            <a:avLst/>
          </a:prstGeom>
          <a:solidFill>
            <a:srgbClr val="F1F7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3200" rIns="203200" tIns="152400"/>
          <a:lstStyle/>
          <a:p>
            <a:pPr algn="l">
              <a:spcAft>
                <a:spcPts val="600"/>
              </a:spcAft>
            </a:pPr>
            <a:r>
              <a:rPr sz="1650" b="1">
                <a:solidFill>
                  <a:srgbClr val="1E4D2B"/>
                </a:solidFill>
                <a:latin typeface="맑은 고딕"/>
              </a:rPr>
              <a:t>향후 고도화 방향</a:t>
            </a:r>
          </a:p>
          <a:p>
            <a:pPr algn="l">
              <a:lnSpc>
                <a:spcPct val="118000"/>
              </a:lnSpc>
            </a:pPr>
            <a:r>
              <a:rPr sz="1400" b="0">
                <a:solidFill>
                  <a:srgbClr val="3A3A3A"/>
                </a:solidFill>
                <a:latin typeface="맑은 고딕"/>
              </a:rPr>
              <a:t>·  식물·작물 데이터 커버리지 지속 확장  ·  물주기 자동 리마인드 및 모바일 알림</a:t>
            </a:r>
          </a:p>
          <a:p>
            <a:pPr algn="l">
              <a:lnSpc>
                <a:spcPct val="118000"/>
              </a:lnSpc>
            </a:pPr>
            <a:r>
              <a:rPr sz="1400" b="0">
                <a:solidFill>
                  <a:srgbClr val="3A3A3A"/>
                </a:solidFill>
                <a:latin typeface="맑은 고딕"/>
              </a:rPr>
              <a:t>·  이미지 진단 정확도 고도화  ·  전문 농가 대상 방제 가이드 확장 (PSIS 데이터 활용)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